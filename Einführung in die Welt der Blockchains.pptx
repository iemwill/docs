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59" r:id="rId14"/>
    <p:sldId id="270" r:id="rId15"/>
    <p:sldId id="271" r:id="rId16"/>
    <p:sldId id="272" r:id="rId17"/>
    <p:sldId id="273" r:id="rId18"/>
    <p:sldId id="274" r:id="rId19"/>
    <p:sldId id="260" r:id="rId20"/>
    <p:sldId id="275"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78165" autoAdjust="0"/>
  </p:normalViewPr>
  <p:slideViewPr>
    <p:cSldViewPr snapToGrid="0">
      <p:cViewPr varScale="1">
        <p:scale>
          <a:sx n="105" d="100"/>
          <a:sy n="105" d="100"/>
        </p:scale>
        <p:origin x="120"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01EA4B-12EE-4752-B98B-04AFEC578A73}" type="datetimeFigureOut">
              <a:rPr lang="de-DE" smtClean="0"/>
              <a:t>15.05.2023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11D4AD-2E28-4105-93D1-6A9927115D81}" type="slidenum">
              <a:rPr lang="de-DE" smtClean="0"/>
              <a:t>‹Nr.›</a:t>
            </a:fld>
            <a:endParaRPr lang="de-DE"/>
          </a:p>
        </p:txBody>
      </p:sp>
    </p:spTree>
    <p:extLst>
      <p:ext uri="{BB962C8B-B14F-4D97-AF65-F5344CB8AC3E}">
        <p14:creationId xmlns:p14="http://schemas.microsoft.com/office/powerpoint/2010/main" val="2534559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de.wikipedia.org/wiki/Typendrucktelegraf" TargetMode="External"/><Relationship Id="rId13" Type="http://schemas.openxmlformats.org/officeDocument/2006/relationships/hyperlink" Target="https://de.wikipedia.org/wiki/Telegramm#cite_note-3" TargetMode="External"/><Relationship Id="rId18" Type="http://schemas.openxmlformats.org/officeDocument/2006/relationships/hyperlink" Target="https://de.wikipedia.org/wiki/Deutsche_Bahn" TargetMode="External"/><Relationship Id="rId26" Type="http://schemas.openxmlformats.org/officeDocument/2006/relationships/hyperlink" Target="https://de.wikipedia.org/wiki/Mobiltelefon" TargetMode="External"/><Relationship Id="rId3" Type="http://schemas.openxmlformats.org/officeDocument/2006/relationships/hyperlink" Target="https://de.wikipedia.org/wiki/Zeichen" TargetMode="External"/><Relationship Id="rId21" Type="http://schemas.openxmlformats.org/officeDocument/2006/relationships/hyperlink" Target="https://de.wikipedia.org/wiki/Ton_(Musik)" TargetMode="External"/><Relationship Id="rId7" Type="http://schemas.openxmlformats.org/officeDocument/2006/relationships/hyperlink" Target="https://de.wikipedia.org/wiki/Schreibtelegraf" TargetMode="External"/><Relationship Id="rId12" Type="http://schemas.openxmlformats.org/officeDocument/2006/relationships/hyperlink" Target="https://de.wikipedia.org/wiki/Deutsche_Post_AG" TargetMode="External"/><Relationship Id="rId17" Type="http://schemas.openxmlformats.org/officeDocument/2006/relationships/hyperlink" Target="https://de.wikipedia.org/wiki/Philipp_Reis" TargetMode="External"/><Relationship Id="rId25" Type="http://schemas.openxmlformats.org/officeDocument/2006/relationships/hyperlink" Target="https://de.wikipedia.org/wiki/Heinrich_von_Stephan" TargetMode="External"/><Relationship Id="rId2" Type="http://schemas.openxmlformats.org/officeDocument/2006/relationships/slide" Target="../slides/slide4.xml"/><Relationship Id="rId16" Type="http://schemas.openxmlformats.org/officeDocument/2006/relationships/hyperlink" Target="https://de.wikipedia.org/wiki/Telefon#cite_note-4" TargetMode="External"/><Relationship Id="rId20" Type="http://schemas.openxmlformats.org/officeDocument/2006/relationships/hyperlink" Target="https://de.wikipedia.org/wiki/Kommunikationsmittel" TargetMode="External"/><Relationship Id="rId1" Type="http://schemas.openxmlformats.org/officeDocument/2006/relationships/notesMaster" Target="../notesMasters/notesMaster1.xml"/><Relationship Id="rId6" Type="http://schemas.openxmlformats.org/officeDocument/2006/relationships/hyperlink" Target="https://de.wikipedia.org/wiki/Code" TargetMode="External"/><Relationship Id="rId11" Type="http://schemas.openxmlformats.org/officeDocument/2006/relationships/hyperlink" Target="https://de.wikipedia.org/wiki/Drahtwort" TargetMode="External"/><Relationship Id="rId24" Type="http://schemas.openxmlformats.org/officeDocument/2006/relationships/hyperlink" Target="https://de.wikipedia.org/wiki/Sprachpflege" TargetMode="External"/><Relationship Id="rId5" Type="http://schemas.openxmlformats.org/officeDocument/2006/relationships/hyperlink" Target="https://de.wikipedia.org/wiki/Telefonie" TargetMode="External"/><Relationship Id="rId15" Type="http://schemas.openxmlformats.org/officeDocument/2006/relationships/hyperlink" Target="https://de.wikipedia.org/wiki/Altgriechische_Sprache" TargetMode="External"/><Relationship Id="rId23" Type="http://schemas.openxmlformats.org/officeDocument/2006/relationships/hyperlink" Target="https://de.wikipedia.org/wiki/Signal" TargetMode="External"/><Relationship Id="rId10" Type="http://schemas.openxmlformats.org/officeDocument/2006/relationships/hyperlink" Target="https://de.wikipedia.org/wiki/Fernschreiber" TargetMode="External"/><Relationship Id="rId19" Type="http://schemas.openxmlformats.org/officeDocument/2006/relationships/hyperlink" Target="https://de.wikipedia.org/wiki/Alexander_Graham_Bell" TargetMode="External"/><Relationship Id="rId4" Type="http://schemas.openxmlformats.org/officeDocument/2006/relationships/hyperlink" Target="https://de.wikipedia.org/wiki/Sprechfunk" TargetMode="External"/><Relationship Id="rId9" Type="http://schemas.openxmlformats.org/officeDocument/2006/relationships/hyperlink" Target="https://de.wikipedia.org/wiki/Zweiter_Weltkrieg" TargetMode="External"/><Relationship Id="rId14" Type="http://schemas.openxmlformats.org/officeDocument/2006/relationships/hyperlink" Target="https://de.wikipedia.org/wiki/Briefgeheimnis" TargetMode="External"/><Relationship Id="rId22" Type="http://schemas.openxmlformats.org/officeDocument/2006/relationships/hyperlink" Target="https://de.wikipedia.org/wiki/Sprache" TargetMode="External"/><Relationship Id="rId27" Type="http://schemas.openxmlformats.org/officeDocument/2006/relationships/hyperlink" Target="https://de.wikipedia.org/wiki/Retronym" TargetMode="External"/></Relationships>
</file>

<file path=ppt/notesSlides/_rels/notesSlide3.xml.rels><?xml version="1.0" encoding="UTF-8" standalone="yes"?>
<Relationships xmlns="http://schemas.openxmlformats.org/package/2006/relationships"><Relationship Id="rId13" Type="http://schemas.openxmlformats.org/officeDocument/2006/relationships/hyperlink" Target="https://de.wikipedia.org/wiki/Englische_Sprache" TargetMode="External"/><Relationship Id="rId18" Type="http://schemas.openxmlformats.org/officeDocument/2006/relationships/hyperlink" Target="https://de.wikipedia.org/wiki/Secure_Shell" TargetMode="External"/><Relationship Id="rId26" Type="http://schemas.openxmlformats.org/officeDocument/2006/relationships/hyperlink" Target="https://de.wikipedia.org/wiki/Buchdruck" TargetMode="External"/><Relationship Id="rId39" Type="http://schemas.openxmlformats.org/officeDocument/2006/relationships/hyperlink" Target="https://de.wikipedia.org/wiki/John_Presper_Eckert" TargetMode="External"/><Relationship Id="rId21" Type="http://schemas.openxmlformats.org/officeDocument/2006/relationships/hyperlink" Target="https://de.wikipedia.org/wiki/File_Transfer_Protocol" TargetMode="External"/><Relationship Id="rId34" Type="http://schemas.openxmlformats.org/officeDocument/2006/relationships/hyperlink" Target="https://de.wikipedia.org/wiki/Rechenmaschine" TargetMode="External"/><Relationship Id="rId42" Type="http://schemas.openxmlformats.org/officeDocument/2006/relationships/hyperlink" Target="https://de.wikipedia.org/wiki/Turing-Vollst%C3%A4ndigkeit" TargetMode="External"/><Relationship Id="rId47" Type="http://schemas.openxmlformats.org/officeDocument/2006/relationships/hyperlink" Target="https://de.wikipedia.org/wiki/Eingebettetes_System" TargetMode="External"/><Relationship Id="rId50" Type="http://schemas.openxmlformats.org/officeDocument/2006/relationships/hyperlink" Target="https://de.wikipedia.org/wiki/Automobil" TargetMode="External"/><Relationship Id="rId55" Type="http://schemas.openxmlformats.org/officeDocument/2006/relationships/hyperlink" Target="https://de.wikipedia.org/wiki/Klimatologie" TargetMode="External"/><Relationship Id="rId7" Type="http://schemas.openxmlformats.org/officeDocument/2006/relationships/hyperlink" Target="https://de.wikipedia.org/wiki/Internet" TargetMode="External"/><Relationship Id="rId2" Type="http://schemas.openxmlformats.org/officeDocument/2006/relationships/slide" Target="../slides/slide5.xml"/><Relationship Id="rId16" Type="http://schemas.openxmlformats.org/officeDocument/2006/relationships/hyperlink" Target="https://de.wikipedia.org/wiki/E-Mail" TargetMode="External"/><Relationship Id="rId29" Type="http://schemas.openxmlformats.org/officeDocument/2006/relationships/hyperlink" Target="https://de.wikipedia.org/wiki/Algorithmus" TargetMode="External"/><Relationship Id="rId11" Type="http://schemas.openxmlformats.org/officeDocument/2006/relationships/hyperlink" Target="https://de.wikipedia.org/wiki/Internet_Relay_Chat" TargetMode="External"/><Relationship Id="rId24" Type="http://schemas.openxmlformats.org/officeDocument/2006/relationships/hyperlink" Target="https://de.wikipedia.org/wiki/Request_for_Comments" TargetMode="External"/><Relationship Id="rId32" Type="http://schemas.openxmlformats.org/officeDocument/2006/relationships/hyperlink" Target="https://de.wikipedia.org/wiki/Ada_Lovelace" TargetMode="External"/><Relationship Id="rId37" Type="http://schemas.openxmlformats.org/officeDocument/2006/relationships/hyperlink" Target="https://de.wikipedia.org/wiki/Zuse_Z3" TargetMode="External"/><Relationship Id="rId40" Type="http://schemas.openxmlformats.org/officeDocument/2006/relationships/hyperlink" Target="https://de.wikipedia.org/wiki/John_William_Mauchly" TargetMode="External"/><Relationship Id="rId45" Type="http://schemas.openxmlformats.org/officeDocument/2006/relationships/hyperlink" Target="https://de.wikipedia.org/wiki/Computer#cite_note-1" TargetMode="External"/><Relationship Id="rId53" Type="http://schemas.openxmlformats.org/officeDocument/2006/relationships/hyperlink" Target="https://de.wikipedia.org/wiki/Personal_Computer" TargetMode="External"/><Relationship Id="rId5" Type="http://schemas.openxmlformats.org/officeDocument/2006/relationships/hyperlink" Target="https://de.wikipedia.org/wiki/Nachricht" TargetMode="External"/><Relationship Id="rId10" Type="http://schemas.openxmlformats.org/officeDocument/2006/relationships/hyperlink" Target="https://de.wikipedia.org/wiki/Office-Paket" TargetMode="External"/><Relationship Id="rId19" Type="http://schemas.openxmlformats.org/officeDocument/2006/relationships/hyperlink" Target="https://de.wikipedia.org/wiki/Extensible_Messaging_and_Presence_Protocol" TargetMode="External"/><Relationship Id="rId31" Type="http://schemas.openxmlformats.org/officeDocument/2006/relationships/hyperlink" Target="https://de.wikipedia.org/wiki/Charles_Babbage" TargetMode="External"/><Relationship Id="rId44" Type="http://schemas.openxmlformats.org/officeDocument/2006/relationships/hyperlink" Target="https://de.wikipedia.org/wiki/Turingmaschine" TargetMode="External"/><Relationship Id="rId52" Type="http://schemas.openxmlformats.org/officeDocument/2006/relationships/hyperlink" Target="https://de.wikipedia.org/wiki/Spielkonsole" TargetMode="External"/><Relationship Id="rId4" Type="http://schemas.openxmlformats.org/officeDocument/2006/relationships/hyperlink" Target="https://de.wikipedia.org/wiki/Computer" TargetMode="External"/><Relationship Id="rId9" Type="http://schemas.openxmlformats.org/officeDocument/2006/relationships/hyperlink" Target="https://de.wikipedia.org/wiki/Internetdienst" TargetMode="External"/><Relationship Id="rId14" Type="http://schemas.openxmlformats.org/officeDocument/2006/relationships/hyperlink" Target="https://de.wikipedia.org/wiki/Rechnernetz" TargetMode="External"/><Relationship Id="rId22" Type="http://schemas.openxmlformats.org/officeDocument/2006/relationships/hyperlink" Target="https://de.wikipedia.org/wiki/Datenaustausch" TargetMode="External"/><Relationship Id="rId27" Type="http://schemas.openxmlformats.org/officeDocument/2006/relationships/hyperlink" Target="https://de.wikipedia.org/wiki/Bundesgerichtshof" TargetMode="External"/><Relationship Id="rId30" Type="http://schemas.openxmlformats.org/officeDocument/2006/relationships/hyperlink" Target="https://de.wikipedia.org/wiki/Datenverarbeitung" TargetMode="External"/><Relationship Id="rId35" Type="http://schemas.openxmlformats.org/officeDocument/2006/relationships/hyperlink" Target="https://de.wikipedia.org/wiki/Analytical_Engine" TargetMode="External"/><Relationship Id="rId43" Type="http://schemas.openxmlformats.org/officeDocument/2006/relationships/hyperlink" Target="https://de.wikipedia.org/wiki/Alan_Turing" TargetMode="External"/><Relationship Id="rId48" Type="http://schemas.openxmlformats.org/officeDocument/2006/relationships/hyperlink" Target="https://de.wikipedia.org/wiki/Waschmaschine" TargetMode="External"/><Relationship Id="rId8" Type="http://schemas.openxmlformats.org/officeDocument/2006/relationships/hyperlink" Target="https://de.wikipedia.org/wiki/World_Wide_Web" TargetMode="External"/><Relationship Id="rId51" Type="http://schemas.openxmlformats.org/officeDocument/2006/relationships/hyperlink" Target="https://de.wikipedia.org/wiki/Smartphone" TargetMode="External"/><Relationship Id="rId3" Type="http://schemas.openxmlformats.org/officeDocument/2006/relationships/hyperlink" Target="https://de.wikipedia.org/wiki/E-Mail#cite_note-1" TargetMode="External"/><Relationship Id="rId12" Type="http://schemas.openxmlformats.org/officeDocument/2006/relationships/hyperlink" Target="https://de.wikipedia.org/wiki/Asynchrone_Kommunikation" TargetMode="External"/><Relationship Id="rId17" Type="http://schemas.openxmlformats.org/officeDocument/2006/relationships/hyperlink" Target="https://de.wikipedia.org/wiki/Telnet" TargetMode="External"/><Relationship Id="rId25" Type="http://schemas.openxmlformats.org/officeDocument/2006/relationships/hyperlink" Target="https://de.wikipedia.org/wiki/Internet_Engineering_Task_Force" TargetMode="External"/><Relationship Id="rId33" Type="http://schemas.openxmlformats.org/officeDocument/2006/relationships/hyperlink" Target="https://de.wikipedia.org/wiki/George_Gordon_Byron" TargetMode="External"/><Relationship Id="rId38" Type="http://schemas.openxmlformats.org/officeDocument/2006/relationships/hyperlink" Target="https://de.wikipedia.org/wiki/Zuse_Z4" TargetMode="External"/><Relationship Id="rId46" Type="http://schemas.openxmlformats.org/officeDocument/2006/relationships/hyperlink" Target="https://de.wikipedia.org/wiki/Computer#cite_note-2" TargetMode="External"/><Relationship Id="rId20" Type="http://schemas.openxmlformats.org/officeDocument/2006/relationships/hyperlink" Target="https://de.wikipedia.org/wiki/MQTT" TargetMode="External"/><Relationship Id="rId41" Type="http://schemas.openxmlformats.org/officeDocument/2006/relationships/hyperlink" Target="https://de.wikipedia.org/wiki/ENIAC" TargetMode="External"/><Relationship Id="rId54" Type="http://schemas.openxmlformats.org/officeDocument/2006/relationships/hyperlink" Target="https://de.wikipedia.org/wiki/Supercomputer" TargetMode="External"/><Relationship Id="rId1" Type="http://schemas.openxmlformats.org/officeDocument/2006/relationships/notesMaster" Target="../notesMasters/notesMaster1.xml"/><Relationship Id="rId6" Type="http://schemas.openxmlformats.org/officeDocument/2006/relationships/hyperlink" Target="https://de.wikipedia.org/wiki/Computernetz" TargetMode="External"/><Relationship Id="rId15" Type="http://schemas.openxmlformats.org/officeDocument/2006/relationships/hyperlink" Target="https://de.wikipedia.org/wiki/Autonomes_System" TargetMode="External"/><Relationship Id="rId23" Type="http://schemas.openxmlformats.org/officeDocument/2006/relationships/hyperlink" Target="https://de.wikipedia.org/wiki/Internetprotokollfamilie" TargetMode="External"/><Relationship Id="rId28" Type="http://schemas.openxmlformats.org/officeDocument/2006/relationships/hyperlink" Target="https://de.wikipedia.org/wiki/Programmierung" TargetMode="External"/><Relationship Id="rId36" Type="http://schemas.openxmlformats.org/officeDocument/2006/relationships/hyperlink" Target="https://de.wikipedia.org/wiki/Konrad_Zuse" TargetMode="External"/><Relationship Id="rId49" Type="http://schemas.openxmlformats.org/officeDocument/2006/relationships/hyperlink" Target="https://de.wikipedia.org/wiki/Videorekorder"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411D4AD-2E28-4105-93D1-6A9927115D81}" type="slidenum">
              <a:rPr lang="de-DE" smtClean="0"/>
              <a:t>3</a:t>
            </a:fld>
            <a:endParaRPr lang="de-DE"/>
          </a:p>
        </p:txBody>
      </p:sp>
    </p:spTree>
    <p:extLst>
      <p:ext uri="{BB962C8B-B14F-4D97-AF65-F5344CB8AC3E}">
        <p14:creationId xmlns:p14="http://schemas.microsoft.com/office/powerpoint/2010/main" val="3747736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a:t>
            </a:r>
            <a:r>
              <a:rPr lang="de-DE" b="0" i="0" dirty="0">
                <a:solidFill>
                  <a:srgbClr val="202122"/>
                </a:solidFill>
                <a:effectLst/>
                <a:latin typeface="Arial" panose="020B0604020202020204" pitchFamily="34" charset="0"/>
              </a:rPr>
              <a:t>Die </a:t>
            </a:r>
            <a:r>
              <a:rPr lang="de-DE" b="1" i="0" dirty="0">
                <a:solidFill>
                  <a:srgbClr val="202122"/>
                </a:solidFill>
                <a:effectLst/>
                <a:latin typeface="Arial" panose="020B0604020202020204" pitchFamily="34" charset="0"/>
              </a:rPr>
              <a:t>Telegrafie </a:t>
            </a:r>
            <a:r>
              <a:rPr lang="de-DE" b="0" i="0" dirty="0">
                <a:solidFill>
                  <a:srgbClr val="202122"/>
                </a:solidFill>
                <a:effectLst/>
                <a:latin typeface="Arial" panose="020B0604020202020204" pitchFamily="34" charset="0"/>
              </a:rPr>
              <a:t>ist die Übermittlung codierter Nachrichten über eine geographische Distanz, bei der keine Objekte zwischen Sende- und Empfangsort bewegt werden. Hierbei werden die Bestandteile eines zu übermittelnden Textes (wie Buchstaben, Ziffern und Satz- und ähnliche Zeichen) als einzelne </a:t>
            </a:r>
            <a:r>
              <a:rPr lang="de-DE" b="0" i="0" u="none" strike="noStrike" dirty="0">
                <a:solidFill>
                  <a:srgbClr val="0645AD"/>
                </a:solidFill>
                <a:effectLst/>
                <a:latin typeface="Arial" panose="020B0604020202020204" pitchFamily="34" charset="0"/>
                <a:hlinkClick r:id="rId3" tooltip="Zeichen"/>
              </a:rPr>
              <a:t>Zeichen</a:t>
            </a:r>
            <a:r>
              <a:rPr lang="de-DE" b="0" i="0" dirty="0">
                <a:solidFill>
                  <a:srgbClr val="202122"/>
                </a:solidFill>
                <a:effectLst/>
                <a:latin typeface="Arial" panose="020B0604020202020204" pitchFamily="34" charset="0"/>
              </a:rPr>
              <a:t> übertragen. Im Gegensatz zum </a:t>
            </a:r>
            <a:r>
              <a:rPr lang="de-DE" b="0" i="0" u="none" strike="noStrike" dirty="0">
                <a:solidFill>
                  <a:srgbClr val="0645AD"/>
                </a:solidFill>
                <a:effectLst/>
                <a:latin typeface="Arial" panose="020B0604020202020204" pitchFamily="34" charset="0"/>
                <a:hlinkClick r:id="rId4" tooltip="Sprechfunk"/>
              </a:rPr>
              <a:t>Sprechfunk</a:t>
            </a:r>
            <a:r>
              <a:rPr lang="de-DE" b="0" i="0" dirty="0">
                <a:solidFill>
                  <a:srgbClr val="202122"/>
                </a:solidFill>
                <a:effectLst/>
                <a:latin typeface="Arial" panose="020B0604020202020204" pitchFamily="34" charset="0"/>
              </a:rPr>
              <a:t> und der </a:t>
            </a:r>
            <a:r>
              <a:rPr lang="de-DE" b="0" i="0" u="none" strike="noStrike" dirty="0">
                <a:solidFill>
                  <a:srgbClr val="0645AD"/>
                </a:solidFill>
                <a:effectLst/>
                <a:latin typeface="Arial" panose="020B0604020202020204" pitchFamily="34" charset="0"/>
                <a:hlinkClick r:id="rId5" tooltip="Telefonie"/>
              </a:rPr>
              <a:t>Telefonie</a:t>
            </a:r>
            <a:r>
              <a:rPr lang="de-DE" b="0" i="0" dirty="0">
                <a:solidFill>
                  <a:srgbClr val="202122"/>
                </a:solidFill>
                <a:effectLst/>
                <a:latin typeface="Arial" panose="020B0604020202020204" pitchFamily="34" charset="0"/>
              </a:rPr>
              <a:t> wird bei der Telegrafie nicht gesprochen, sondern die Zeichen werden über einen </a:t>
            </a:r>
            <a:r>
              <a:rPr lang="de-DE" b="0" i="0" u="none" strike="noStrike" dirty="0">
                <a:solidFill>
                  <a:srgbClr val="0645AD"/>
                </a:solidFill>
                <a:effectLst/>
                <a:latin typeface="Arial" panose="020B0604020202020204" pitchFamily="34" charset="0"/>
                <a:hlinkClick r:id="rId6" tooltip="Code"/>
              </a:rPr>
              <a:t>Code</a:t>
            </a:r>
            <a:r>
              <a:rPr lang="de-DE" b="0" i="0" dirty="0">
                <a:solidFill>
                  <a:srgbClr val="202122"/>
                </a:solidFill>
                <a:effectLst/>
                <a:latin typeface="Arial" panose="020B0604020202020204" pitchFamily="34" charset="0"/>
              </a:rPr>
              <a:t> übertragen.“ </a:t>
            </a:r>
            <a:r>
              <a:rPr lang="de-DE" b="0" i="0" dirty="0">
                <a:solidFill>
                  <a:srgbClr val="202122"/>
                </a:solidFill>
                <a:effectLst/>
                <a:latin typeface="+mn-lt"/>
              </a:rPr>
              <a:t>- https://de.wikipedia.org/wiki/Telegrafie</a:t>
            </a:r>
            <a:endParaRPr lang="de-DE" b="0" i="0"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0" i="0"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b="0" i="0" dirty="0">
                <a:effectLst/>
                <a:latin typeface="Arial" panose="020B0604020202020204" pitchFamily="34" charset="0"/>
              </a:rPr>
              <a:t>- „</a:t>
            </a:r>
            <a:r>
              <a:rPr lang="de-DE" b="1" i="0" dirty="0">
                <a:effectLst/>
                <a:latin typeface="Arial" panose="020B0604020202020204" pitchFamily="34" charset="0"/>
              </a:rPr>
              <a:t>Telegramme</a:t>
            </a:r>
            <a:r>
              <a:rPr lang="de-DE" b="0" i="0" dirty="0">
                <a:effectLst/>
                <a:latin typeface="Arial" panose="020B0604020202020204" pitchFamily="34" charset="0"/>
              </a:rPr>
              <a:t> wurden ab den späten 1840er Jahren mit </a:t>
            </a:r>
            <a:r>
              <a:rPr lang="de-DE" b="0" i="0" u="none" strike="noStrike" dirty="0">
                <a:effectLst/>
                <a:latin typeface="Arial" panose="020B0604020202020204" pitchFamily="34" charset="0"/>
                <a:hlinkClick r:id="rId7" tooltip="Schreibtelegraf">
                  <a:extLst>
                    <a:ext uri="{A12FA001-AC4F-418D-AE19-62706E023703}">
                      <ahyp:hlinkClr xmlns:ahyp="http://schemas.microsoft.com/office/drawing/2018/hyperlinkcolor" val="tx"/>
                    </a:ext>
                  </a:extLst>
                </a:hlinkClick>
              </a:rPr>
              <a:t>Morseschreibern</a:t>
            </a:r>
            <a:r>
              <a:rPr lang="de-DE" b="0" i="0" dirty="0">
                <a:effectLst/>
                <a:latin typeface="Arial" panose="020B0604020202020204" pitchFamily="34" charset="0"/>
              </a:rPr>
              <a:t>, Ende des 19. Jahrhunderts mit </a:t>
            </a:r>
            <a:r>
              <a:rPr lang="de-DE" b="0" i="0" u="none" strike="noStrike" dirty="0">
                <a:effectLst/>
                <a:latin typeface="Arial" panose="020B0604020202020204" pitchFamily="34" charset="0"/>
                <a:hlinkClick r:id="rId8" tooltip="Typendrucktelegraf">
                  <a:extLst>
                    <a:ext uri="{A12FA001-AC4F-418D-AE19-62706E023703}">
                      <ahyp:hlinkClr xmlns:ahyp="http://schemas.microsoft.com/office/drawing/2018/hyperlinkcolor" val="tx"/>
                    </a:ext>
                  </a:extLst>
                </a:hlinkClick>
              </a:rPr>
              <a:t>Typendrucktelegrafen</a:t>
            </a:r>
            <a:r>
              <a:rPr lang="de-DE" b="0" i="0" dirty="0">
                <a:effectLst/>
                <a:latin typeface="Arial" panose="020B0604020202020204" pitchFamily="34" charset="0"/>
              </a:rPr>
              <a:t> und nach dem </a:t>
            </a:r>
            <a:r>
              <a:rPr lang="de-DE" b="0" i="0" u="none" strike="noStrike" dirty="0">
                <a:effectLst/>
                <a:latin typeface="Arial" panose="020B0604020202020204" pitchFamily="34" charset="0"/>
                <a:hlinkClick r:id="rId9" tooltip="Zweiter Weltkrieg">
                  <a:extLst>
                    <a:ext uri="{A12FA001-AC4F-418D-AE19-62706E023703}">
                      <ahyp:hlinkClr xmlns:ahyp="http://schemas.microsoft.com/office/drawing/2018/hyperlinkcolor" val="tx"/>
                    </a:ext>
                  </a:extLst>
                </a:hlinkClick>
              </a:rPr>
              <a:t>Zweiten Weltkrieg</a:t>
            </a:r>
            <a:r>
              <a:rPr lang="de-DE" b="0" i="0" dirty="0">
                <a:effectLst/>
                <a:latin typeface="Arial" panose="020B0604020202020204" pitchFamily="34" charset="0"/>
              </a:rPr>
              <a:t> per </a:t>
            </a:r>
            <a:r>
              <a:rPr lang="de-DE" b="0" i="0" u="none" strike="noStrike" dirty="0">
                <a:effectLst/>
                <a:latin typeface="Arial" panose="020B0604020202020204" pitchFamily="34" charset="0"/>
                <a:hlinkClick r:id="rId10" tooltip="Fernschreiber">
                  <a:extLst>
                    <a:ext uri="{A12FA001-AC4F-418D-AE19-62706E023703}">
                      <ahyp:hlinkClr xmlns:ahyp="http://schemas.microsoft.com/office/drawing/2018/hyperlinkcolor" val="tx"/>
                    </a:ext>
                  </a:extLst>
                </a:hlinkClick>
              </a:rPr>
              <a:t>Fernschreiber</a:t>
            </a:r>
            <a:r>
              <a:rPr lang="de-DE" b="0" i="0" dirty="0">
                <a:effectLst/>
                <a:latin typeface="Arial" panose="020B0604020202020204" pitchFamily="34" charset="0"/>
              </a:rPr>
              <a:t> übermittelt. Da sich das Entgelt (früher: Gebühr) für ein     Telegramm nach der Anzahl der Wörter richtet, hat sich ein sogenannter „Telegrammstil“ eingebürgert, z. B. sagt man statt „Ich komme am Freitag um 17:00 Uhr an.“ kürzer „Ankomme Freitag 17 Uhr.“ Aus diesem Grund konnten Empfänger   auch eine verkürzte Telegrammadresse, das „</a:t>
            </a:r>
            <a:r>
              <a:rPr lang="de-DE" b="0" i="0" u="none" strike="noStrike" dirty="0">
                <a:effectLst/>
                <a:latin typeface="Arial" panose="020B0604020202020204" pitchFamily="34" charset="0"/>
                <a:hlinkClick r:id="rId11" tooltip="Drahtwort">
                  <a:extLst>
                    <a:ext uri="{A12FA001-AC4F-418D-AE19-62706E023703}">
                      <ahyp:hlinkClr xmlns:ahyp="http://schemas.microsoft.com/office/drawing/2018/hyperlinkcolor" val="tx"/>
                    </a:ext>
                  </a:extLst>
                </a:hlinkClick>
              </a:rPr>
              <a:t>Drahtwort</a:t>
            </a:r>
            <a:r>
              <a:rPr lang="de-DE" b="0" i="0" dirty="0">
                <a:effectLst/>
                <a:latin typeface="Arial" panose="020B0604020202020204" pitchFamily="34" charset="0"/>
              </a:rPr>
              <a:t>“, beantragen. Die Übermittlung von Telegrammen wurde von der </a:t>
            </a:r>
            <a:r>
              <a:rPr lang="de-DE" b="0" i="0" u="none" strike="noStrike" dirty="0">
                <a:effectLst/>
                <a:latin typeface="Arial" panose="020B0604020202020204" pitchFamily="34" charset="0"/>
                <a:hlinkClick r:id="rId12" tooltip="Deutsche Post AG">
                  <a:extLst>
                    <a:ext uri="{A12FA001-AC4F-418D-AE19-62706E023703}">
                      <ahyp:hlinkClr xmlns:ahyp="http://schemas.microsoft.com/office/drawing/2018/hyperlinkcolor" val="tx"/>
                    </a:ext>
                  </a:extLst>
                </a:hlinkClick>
              </a:rPr>
              <a:t>Deutschen Post</a:t>
            </a:r>
            <a:r>
              <a:rPr lang="de-DE" b="0" i="0" dirty="0">
                <a:effectLst/>
                <a:latin typeface="Arial" panose="020B0604020202020204" pitchFamily="34" charset="0"/>
              </a:rPr>
              <a:t> innerhalb Deutschlands bis zum 31. Dezember 2022 angeboten und dann wegen mangelnder Nutzung eingestellt.</a:t>
            </a:r>
            <a:r>
              <a:rPr lang="de-DE" b="0" i="0" u="none" strike="noStrike" baseline="30000" dirty="0">
                <a:effectLst/>
                <a:latin typeface="Arial" panose="020B0604020202020204" pitchFamily="34" charset="0"/>
                <a:hlinkClick r:id="rId13">
                  <a:extLst>
                    <a:ext uri="{A12FA001-AC4F-418D-AE19-62706E023703}">
                      <ahyp:hlinkClr xmlns:ahyp="http://schemas.microsoft.com/office/drawing/2018/hyperlinkcolor" val="tx"/>
                    </a:ext>
                  </a:extLst>
                </a:hlinkClick>
              </a:rPr>
              <a:t>[3]</a:t>
            </a:r>
            <a:r>
              <a:rPr lang="de-DE" b="0" i="0" dirty="0">
                <a:effectLst/>
                <a:latin typeface="Arial" panose="020B0604020202020204" pitchFamily="34" charset="0"/>
              </a:rPr>
              <a:t> Das </a:t>
            </a:r>
            <a:r>
              <a:rPr lang="de-DE" b="0" i="0" u="none" strike="noStrike" dirty="0">
                <a:effectLst/>
                <a:latin typeface="Arial" panose="020B0604020202020204" pitchFamily="34" charset="0"/>
                <a:hlinkClick r:id="rId14" tooltip="Briefgeheimnis">
                  <a:extLst>
                    <a:ext uri="{A12FA001-AC4F-418D-AE19-62706E023703}">
                      <ahyp:hlinkClr xmlns:ahyp="http://schemas.microsoft.com/office/drawing/2018/hyperlinkcolor" val="tx"/>
                    </a:ext>
                  </a:extLst>
                </a:hlinkClick>
              </a:rPr>
              <a:t>Briefgeheimnis</a:t>
            </a:r>
            <a:r>
              <a:rPr lang="de-DE" b="0" i="0" dirty="0">
                <a:effectLst/>
                <a:latin typeface="Arial" panose="020B0604020202020204" pitchFamily="34" charset="0"/>
              </a:rPr>
              <a:t> galt auch für Telegramme, d. h. der aufnehmende Mitarbeiter darf den Inhalt weder an andere weitergeben noch verfälschen.“ - https://de.wikipedia.org/wiki/Telegramm</a:t>
            </a:r>
            <a:endParaRPr lang="de-DE" dirty="0"/>
          </a:p>
          <a:p>
            <a:endParaRPr lang="de-DE" dirty="0"/>
          </a:p>
          <a:p>
            <a:r>
              <a:rPr lang="de-DE" dirty="0"/>
              <a:t>- „</a:t>
            </a:r>
            <a:r>
              <a:rPr lang="de-DE" b="0" i="0" dirty="0">
                <a:solidFill>
                  <a:srgbClr val="202122"/>
                </a:solidFill>
                <a:effectLst/>
                <a:latin typeface="Arial" panose="020B0604020202020204" pitchFamily="34" charset="0"/>
              </a:rPr>
              <a:t>Ein </a:t>
            </a:r>
            <a:r>
              <a:rPr lang="de-DE" b="1" i="0" dirty="0">
                <a:solidFill>
                  <a:srgbClr val="202122"/>
                </a:solidFill>
                <a:effectLst/>
                <a:latin typeface="Arial" panose="020B0604020202020204" pitchFamily="34" charset="0"/>
              </a:rPr>
              <a:t>Telefon</a:t>
            </a:r>
            <a:r>
              <a:rPr lang="de-DE" b="0" i="0" dirty="0">
                <a:solidFill>
                  <a:srgbClr val="202122"/>
                </a:solidFill>
                <a:effectLst/>
                <a:latin typeface="Arial" panose="020B0604020202020204" pitchFamily="34" charset="0"/>
              </a:rPr>
              <a:t>, in älterer Schreibung </a:t>
            </a:r>
            <a:r>
              <a:rPr lang="de-DE" b="1" i="0" dirty="0" err="1">
                <a:solidFill>
                  <a:srgbClr val="202122"/>
                </a:solidFill>
                <a:effectLst/>
                <a:latin typeface="Arial" panose="020B0604020202020204" pitchFamily="34" charset="0"/>
              </a:rPr>
              <a:t>Telephon</a:t>
            </a:r>
            <a:r>
              <a:rPr lang="de-DE" b="0" i="0" dirty="0">
                <a:solidFill>
                  <a:srgbClr val="202122"/>
                </a:solidFill>
                <a:effectLst/>
                <a:latin typeface="Arial" panose="020B0604020202020204" pitchFamily="34" charset="0"/>
              </a:rPr>
              <a:t> (von </a:t>
            </a:r>
            <a:r>
              <a:rPr lang="de-DE" b="0" i="0" u="none" strike="noStrike" dirty="0">
                <a:solidFill>
                  <a:srgbClr val="0645AD"/>
                </a:solidFill>
                <a:effectLst/>
                <a:latin typeface="Arial" panose="020B0604020202020204" pitchFamily="34" charset="0"/>
                <a:hlinkClick r:id="rId15" tooltip="Altgriechische Sprache"/>
              </a:rPr>
              <a:t>altgriechisch</a:t>
            </a:r>
            <a:r>
              <a:rPr lang="de-DE" b="0" i="0" dirty="0">
                <a:solidFill>
                  <a:srgbClr val="202122"/>
                </a:solidFill>
                <a:effectLst/>
                <a:latin typeface="Arial" panose="020B0604020202020204" pitchFamily="34" charset="0"/>
              </a:rPr>
              <a:t> </a:t>
            </a:r>
            <a:r>
              <a:rPr lang="de-DE" b="0" i="0" dirty="0" err="1">
                <a:solidFill>
                  <a:srgbClr val="202122"/>
                </a:solidFill>
                <a:effectLst/>
                <a:latin typeface="Arial" panose="020B0604020202020204" pitchFamily="34" charset="0"/>
              </a:rPr>
              <a:t>τῆλε</a:t>
            </a:r>
            <a:r>
              <a:rPr lang="de-DE" b="0" i="0" dirty="0">
                <a:solidFill>
                  <a:srgbClr val="202122"/>
                </a:solidFill>
                <a:effectLst/>
                <a:latin typeface="Arial" panose="020B0604020202020204" pitchFamily="34" charset="0"/>
              </a:rPr>
              <a:t> </a:t>
            </a:r>
            <a:r>
              <a:rPr lang="de-DE" b="0" i="1" dirty="0" err="1">
                <a:solidFill>
                  <a:srgbClr val="202122"/>
                </a:solidFill>
                <a:effectLst/>
                <a:latin typeface="Akzidenz Grotesk"/>
              </a:rPr>
              <a:t>tēle</a:t>
            </a:r>
            <a:r>
              <a:rPr lang="de-DE" b="0" i="0" dirty="0">
                <a:solidFill>
                  <a:srgbClr val="202122"/>
                </a:solidFill>
                <a:effectLst/>
                <a:latin typeface="Arial" panose="020B0604020202020204" pitchFamily="34" charset="0"/>
              </a:rPr>
              <a:t> „fern“ und </a:t>
            </a:r>
            <a:r>
              <a:rPr lang="de-DE" b="0" i="0" dirty="0" err="1">
                <a:solidFill>
                  <a:srgbClr val="202122"/>
                </a:solidFill>
                <a:effectLst/>
                <a:latin typeface="Arial" panose="020B0604020202020204" pitchFamily="34" charset="0"/>
              </a:rPr>
              <a:t>φωνή</a:t>
            </a:r>
            <a:r>
              <a:rPr lang="de-DE" b="0" i="0" dirty="0">
                <a:solidFill>
                  <a:srgbClr val="202122"/>
                </a:solidFill>
                <a:effectLst/>
                <a:latin typeface="Arial" panose="020B0604020202020204" pitchFamily="34" charset="0"/>
              </a:rPr>
              <a:t> </a:t>
            </a:r>
            <a:r>
              <a:rPr lang="de-DE" b="0" i="1" dirty="0" err="1">
                <a:solidFill>
                  <a:srgbClr val="202122"/>
                </a:solidFill>
                <a:effectLst/>
                <a:latin typeface="Akzidenz Grotesk"/>
              </a:rPr>
              <a:t>phōnē</a:t>
            </a:r>
            <a:r>
              <a:rPr lang="de-DE" b="0" i="0" dirty="0">
                <a:solidFill>
                  <a:srgbClr val="202122"/>
                </a:solidFill>
                <a:effectLst/>
                <a:latin typeface="Arial" panose="020B0604020202020204" pitchFamily="34" charset="0"/>
              </a:rPr>
              <a:t> „Laut, Ton, Stimme, Sprache“;</a:t>
            </a:r>
            <a:r>
              <a:rPr lang="de-DE" b="0" i="0" u="none" strike="noStrike" baseline="30000" dirty="0">
                <a:solidFill>
                  <a:srgbClr val="0645AD"/>
                </a:solidFill>
                <a:effectLst/>
                <a:latin typeface="Arial" panose="020B0604020202020204" pitchFamily="34" charset="0"/>
                <a:hlinkClick r:id="rId16"/>
              </a:rPr>
              <a:t>[4]</a:t>
            </a:r>
            <a:r>
              <a:rPr lang="de-DE" b="0" i="0" dirty="0">
                <a:solidFill>
                  <a:srgbClr val="202122"/>
                </a:solidFill>
                <a:effectLst/>
                <a:latin typeface="Arial" panose="020B0604020202020204" pitchFamily="34" charset="0"/>
              </a:rPr>
              <a:t> Begriff geprägt von </a:t>
            </a:r>
            <a:r>
              <a:rPr lang="de-DE" b="0" i="0" u="none" strike="noStrike" dirty="0">
                <a:solidFill>
                  <a:srgbClr val="0645AD"/>
                </a:solidFill>
                <a:effectLst/>
                <a:latin typeface="Arial" panose="020B0604020202020204" pitchFamily="34" charset="0"/>
                <a:hlinkClick r:id="rId17" tooltip="Philipp Reis"/>
              </a:rPr>
              <a:t>Philipp Reis</a:t>
            </a:r>
            <a:r>
              <a:rPr lang="de-DE" b="0" i="0" dirty="0">
                <a:solidFill>
                  <a:srgbClr val="202122"/>
                </a:solidFill>
                <a:effectLst/>
                <a:latin typeface="Arial" panose="020B0604020202020204" pitchFamily="34" charset="0"/>
              </a:rPr>
              <a:t>), auch </a:t>
            </a:r>
            <a:r>
              <a:rPr lang="de-DE" b="1" i="0" dirty="0">
                <a:solidFill>
                  <a:srgbClr val="202122"/>
                </a:solidFill>
                <a:effectLst/>
                <a:latin typeface="Arial" panose="020B0604020202020204" pitchFamily="34" charset="0"/>
              </a:rPr>
              <a:t>Fernsprechapparat</a:t>
            </a:r>
            <a:r>
              <a:rPr lang="de-DE" b="0" i="0" dirty="0">
                <a:solidFill>
                  <a:srgbClr val="202122"/>
                </a:solidFill>
                <a:effectLst/>
                <a:latin typeface="Arial" panose="020B0604020202020204" pitchFamily="34" charset="0"/>
              </a:rPr>
              <a:t> (kurz </a:t>
            </a:r>
            <a:r>
              <a:rPr lang="de-DE" b="0" i="1" dirty="0" err="1">
                <a:solidFill>
                  <a:srgbClr val="202122"/>
                </a:solidFill>
                <a:effectLst/>
                <a:latin typeface="Arial" panose="020B0604020202020204" pitchFamily="34" charset="0"/>
              </a:rPr>
              <a:t>FeAp</a:t>
            </a:r>
            <a:r>
              <a:rPr lang="de-DE" b="0" i="0" dirty="0">
                <a:solidFill>
                  <a:srgbClr val="202122"/>
                </a:solidFill>
                <a:effectLst/>
                <a:latin typeface="Arial" panose="020B0604020202020204" pitchFamily="34" charset="0"/>
              </a:rPr>
              <a:t>) oder </a:t>
            </a:r>
            <a:r>
              <a:rPr lang="de-DE" b="1" i="0" dirty="0">
                <a:solidFill>
                  <a:srgbClr val="202122"/>
                </a:solidFill>
                <a:effectLst/>
                <a:latin typeface="Arial" panose="020B0604020202020204" pitchFamily="34" charset="0"/>
              </a:rPr>
              <a:t>Fernsprecher</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18" tooltip="Deutsche Bahn"/>
              </a:rPr>
              <a:t>bahninterne</a:t>
            </a:r>
            <a:r>
              <a:rPr lang="de-DE" b="0" i="0" dirty="0">
                <a:solidFill>
                  <a:srgbClr val="202122"/>
                </a:solidFill>
                <a:effectLst/>
                <a:latin typeface="Arial" panose="020B0604020202020204" pitchFamily="34" charset="0"/>
              </a:rPr>
              <a:t> Abkürzung </a:t>
            </a:r>
            <a:r>
              <a:rPr lang="de-DE" b="1" i="0" dirty="0" err="1">
                <a:solidFill>
                  <a:srgbClr val="202122"/>
                </a:solidFill>
                <a:effectLst/>
                <a:latin typeface="Arial" panose="020B0604020202020204" pitchFamily="34" charset="0"/>
              </a:rPr>
              <a:t>Fspr</a:t>
            </a:r>
            <a:r>
              <a:rPr lang="de-DE" b="0" i="0" dirty="0">
                <a:solidFill>
                  <a:srgbClr val="202122"/>
                </a:solidFill>
                <a:effectLst/>
                <a:latin typeface="Arial" panose="020B0604020202020204" pitchFamily="34" charset="0"/>
              </a:rPr>
              <a:t>) genannt, ist ein in seiner modernen Form 1876 von </a:t>
            </a:r>
            <a:r>
              <a:rPr lang="de-DE" b="0" i="0" u="none" strike="noStrike" dirty="0">
                <a:solidFill>
                  <a:srgbClr val="0645AD"/>
                </a:solidFill>
                <a:effectLst/>
                <a:latin typeface="Arial" panose="020B0604020202020204" pitchFamily="34" charset="0"/>
                <a:hlinkClick r:id="rId19" tooltip="Alexander Graham Bell"/>
              </a:rPr>
              <a:t>Alexander Graham Bell</a:t>
            </a:r>
            <a:r>
              <a:rPr lang="de-DE" b="0" i="0" dirty="0">
                <a:solidFill>
                  <a:srgbClr val="202122"/>
                </a:solidFill>
                <a:effectLst/>
                <a:latin typeface="Arial" panose="020B0604020202020204" pitchFamily="34" charset="0"/>
              </a:rPr>
              <a:t> entwickeltes </a:t>
            </a:r>
            <a:r>
              <a:rPr lang="de-DE" b="0" i="0" u="none" strike="noStrike" dirty="0">
                <a:solidFill>
                  <a:srgbClr val="0645AD"/>
                </a:solidFill>
                <a:effectLst/>
                <a:latin typeface="Arial" panose="020B0604020202020204" pitchFamily="34" charset="0"/>
                <a:hlinkClick r:id="rId20" tooltip="Kommunikationsmittel"/>
              </a:rPr>
              <a:t>Kommunikationsmittel</a:t>
            </a:r>
            <a:r>
              <a:rPr lang="de-DE" b="0" i="0" dirty="0">
                <a:solidFill>
                  <a:srgbClr val="202122"/>
                </a:solidFill>
                <a:effectLst/>
                <a:latin typeface="Arial" panose="020B0604020202020204" pitchFamily="34" charset="0"/>
              </a:rPr>
              <a:t> zur Übermittlung von </a:t>
            </a:r>
            <a:r>
              <a:rPr lang="de-DE" b="0" i="0" u="none" strike="noStrike" dirty="0">
                <a:solidFill>
                  <a:srgbClr val="0645AD"/>
                </a:solidFill>
                <a:effectLst/>
                <a:latin typeface="Arial" panose="020B0604020202020204" pitchFamily="34" charset="0"/>
                <a:hlinkClick r:id="rId21" tooltip="Ton (Musik)"/>
              </a:rPr>
              <a:t>Tönen</a:t>
            </a:r>
            <a:r>
              <a:rPr lang="de-DE" b="0" i="0" dirty="0">
                <a:solidFill>
                  <a:srgbClr val="202122"/>
                </a:solidFill>
                <a:effectLst/>
                <a:latin typeface="Arial" panose="020B0604020202020204" pitchFamily="34" charset="0"/>
              </a:rPr>
              <a:t> und speziell von </a:t>
            </a:r>
            <a:r>
              <a:rPr lang="de-DE" b="0" i="0" u="none" strike="noStrike" dirty="0">
                <a:solidFill>
                  <a:srgbClr val="0645AD"/>
                </a:solidFill>
                <a:effectLst/>
                <a:latin typeface="Arial" panose="020B0604020202020204" pitchFamily="34" charset="0"/>
                <a:hlinkClick r:id="rId22" tooltip="Sprache"/>
              </a:rPr>
              <a:t>Sprache</a:t>
            </a:r>
            <a:r>
              <a:rPr lang="de-DE" b="0" i="0" dirty="0">
                <a:solidFill>
                  <a:srgbClr val="202122"/>
                </a:solidFill>
                <a:effectLst/>
                <a:latin typeface="Arial" panose="020B0604020202020204" pitchFamily="34" charset="0"/>
              </a:rPr>
              <a:t> mittels elektrischer </a:t>
            </a:r>
            <a:r>
              <a:rPr lang="de-DE" b="0" i="0" u="none" strike="noStrike" dirty="0">
                <a:solidFill>
                  <a:srgbClr val="0645AD"/>
                </a:solidFill>
                <a:effectLst/>
                <a:latin typeface="Arial" panose="020B0604020202020204" pitchFamily="34" charset="0"/>
                <a:hlinkClick r:id="rId23" tooltip="Signal"/>
              </a:rPr>
              <a:t>Signale</a:t>
            </a:r>
            <a:r>
              <a:rPr lang="de-DE" b="0" i="0" dirty="0">
                <a:solidFill>
                  <a:srgbClr val="202122"/>
                </a:solidFill>
                <a:effectLst/>
                <a:latin typeface="Arial" panose="020B0604020202020204" pitchFamily="34" charset="0"/>
              </a:rPr>
              <a:t>. Die Begriffe Fernsprecher und Fernsprechapparat gehen auf das Wirken des Generalpostdirektors und </a:t>
            </a:r>
            <a:r>
              <a:rPr lang="de-DE" b="0" i="0" u="none" strike="noStrike" dirty="0">
                <a:solidFill>
                  <a:srgbClr val="0645AD"/>
                </a:solidFill>
                <a:effectLst/>
                <a:latin typeface="Arial" panose="020B0604020202020204" pitchFamily="34" charset="0"/>
                <a:hlinkClick r:id="rId24" tooltip="Sprachpflege"/>
              </a:rPr>
              <a:t>Sprachpflegers</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25" tooltip="Heinrich von Stephan"/>
              </a:rPr>
              <a:t>Heinrich von Stephan</a:t>
            </a:r>
            <a:r>
              <a:rPr lang="de-DE" b="0" i="0" dirty="0">
                <a:solidFill>
                  <a:srgbClr val="202122"/>
                </a:solidFill>
                <a:effectLst/>
                <a:latin typeface="Arial" panose="020B0604020202020204" pitchFamily="34" charset="0"/>
              </a:rPr>
              <a:t> zurück. Zur Unterscheidung vom </a:t>
            </a:r>
            <a:r>
              <a:rPr lang="de-DE" b="0" i="0" u="none" strike="noStrike" dirty="0">
                <a:solidFill>
                  <a:srgbClr val="0645AD"/>
                </a:solidFill>
                <a:effectLst/>
                <a:latin typeface="Arial" panose="020B0604020202020204" pitchFamily="34" charset="0"/>
                <a:hlinkClick r:id="rId26" tooltip="Mobiltelefon"/>
              </a:rPr>
              <a:t>Mobiltelefon</a:t>
            </a:r>
            <a:r>
              <a:rPr lang="de-DE" b="0" i="0" dirty="0">
                <a:solidFill>
                  <a:srgbClr val="202122"/>
                </a:solidFill>
                <a:effectLst/>
                <a:latin typeface="Arial" panose="020B0604020202020204" pitchFamily="34" charset="0"/>
              </a:rPr>
              <a:t> wird heute auch häufig das </a:t>
            </a:r>
            <a:r>
              <a:rPr lang="de-DE" b="0" i="0" u="none" strike="noStrike" dirty="0">
                <a:solidFill>
                  <a:srgbClr val="0645AD"/>
                </a:solidFill>
                <a:effectLst/>
                <a:latin typeface="Arial" panose="020B0604020202020204" pitchFamily="34" charset="0"/>
                <a:hlinkClick r:id="rId27" tooltip="Retronym"/>
              </a:rPr>
              <a:t>Retronym</a:t>
            </a:r>
            <a:r>
              <a:rPr lang="de-DE" b="0" i="0" dirty="0">
                <a:solidFill>
                  <a:srgbClr val="202122"/>
                </a:solidFill>
                <a:effectLst/>
                <a:latin typeface="Arial" panose="020B0604020202020204" pitchFamily="34" charset="0"/>
              </a:rPr>
              <a:t> </a:t>
            </a:r>
            <a:r>
              <a:rPr lang="de-DE" b="1" i="0" dirty="0">
                <a:solidFill>
                  <a:srgbClr val="202122"/>
                </a:solidFill>
                <a:effectLst/>
                <a:latin typeface="Arial" panose="020B0604020202020204" pitchFamily="34" charset="0"/>
              </a:rPr>
              <a:t>Festnetztelefon</a:t>
            </a:r>
            <a:r>
              <a:rPr lang="de-DE" b="0" i="0" dirty="0">
                <a:solidFill>
                  <a:srgbClr val="202122"/>
                </a:solidFill>
                <a:effectLst/>
                <a:latin typeface="Arial" panose="020B0604020202020204" pitchFamily="34" charset="0"/>
              </a:rPr>
              <a:t> verwendet.“ - https://de.wikipedia.org/wiki/Telefon</a:t>
            </a:r>
            <a:endParaRPr lang="de-DE" dirty="0"/>
          </a:p>
        </p:txBody>
      </p:sp>
      <p:sp>
        <p:nvSpPr>
          <p:cNvPr id="4" name="Foliennummernplatzhalter 3"/>
          <p:cNvSpPr>
            <a:spLocks noGrp="1"/>
          </p:cNvSpPr>
          <p:nvPr>
            <p:ph type="sldNum" sz="quarter" idx="5"/>
          </p:nvPr>
        </p:nvSpPr>
        <p:spPr/>
        <p:txBody>
          <a:bodyPr/>
          <a:lstStyle/>
          <a:p>
            <a:fld id="{1411D4AD-2E28-4105-93D1-6A9927115D81}" type="slidenum">
              <a:rPr lang="de-DE" smtClean="0"/>
              <a:t>4</a:t>
            </a:fld>
            <a:endParaRPr lang="de-DE"/>
          </a:p>
        </p:txBody>
      </p:sp>
    </p:spTree>
    <p:extLst>
      <p:ext uri="{BB962C8B-B14F-4D97-AF65-F5344CB8AC3E}">
        <p14:creationId xmlns:p14="http://schemas.microsoft.com/office/powerpoint/2010/main" val="381753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l"/>
            <a:r>
              <a:rPr lang="de-DE" dirty="0"/>
              <a:t>- „</a:t>
            </a:r>
            <a:r>
              <a:rPr lang="de-DE" b="0" i="0" dirty="0">
                <a:solidFill>
                  <a:srgbClr val="202122"/>
                </a:solidFill>
                <a:effectLst/>
                <a:latin typeface="Arial" panose="020B0604020202020204" pitchFamily="34" charset="0"/>
              </a:rPr>
              <a:t>Die oder das</a:t>
            </a:r>
            <a:r>
              <a:rPr lang="de-DE" b="0" i="0" u="none" strike="noStrike" baseline="30000" dirty="0">
                <a:solidFill>
                  <a:srgbClr val="0645AD"/>
                </a:solidFill>
                <a:effectLst/>
                <a:latin typeface="Arial" panose="020B0604020202020204" pitchFamily="34" charset="0"/>
                <a:hlinkClick r:id="rId3"/>
              </a:rPr>
              <a:t>[1]</a:t>
            </a:r>
            <a:r>
              <a:rPr lang="de-DE" b="0" i="0" dirty="0">
                <a:solidFill>
                  <a:srgbClr val="202122"/>
                </a:solidFill>
                <a:effectLst/>
                <a:latin typeface="Arial" panose="020B0604020202020204" pitchFamily="34" charset="0"/>
              </a:rPr>
              <a:t> </a:t>
            </a:r>
            <a:r>
              <a:rPr lang="de-DE" b="1" i="0" dirty="0">
                <a:solidFill>
                  <a:srgbClr val="202122"/>
                </a:solidFill>
                <a:effectLst/>
                <a:latin typeface="Arial" panose="020B0604020202020204" pitchFamily="34" charset="0"/>
              </a:rPr>
              <a:t>E-Mail (</a:t>
            </a:r>
            <a:r>
              <a:rPr lang="de-DE" b="0" i="0" dirty="0">
                <a:solidFill>
                  <a:srgbClr val="202122"/>
                </a:solidFill>
                <a:effectLst/>
                <a:latin typeface="Arial" panose="020B0604020202020204" pitchFamily="34" charset="0"/>
              </a:rPr>
              <a:t>engl. </a:t>
            </a:r>
            <a:r>
              <a:rPr lang="de-DE" b="0" i="1" dirty="0">
                <a:solidFill>
                  <a:srgbClr val="202122"/>
                </a:solidFill>
                <a:effectLst/>
                <a:latin typeface="Arial" panose="020B0604020202020204" pitchFamily="34" charset="0"/>
              </a:rPr>
              <a:t>electronic mail</a:t>
            </a:r>
            <a:r>
              <a:rPr lang="de-DE" b="0" i="0" dirty="0">
                <a:solidFill>
                  <a:srgbClr val="202122"/>
                </a:solidFill>
                <a:effectLst/>
                <a:latin typeface="Arial" panose="020B0604020202020204" pitchFamily="34" charset="0"/>
              </a:rPr>
              <a:t> für „elektronische Post“, kurz </a:t>
            </a:r>
            <a:r>
              <a:rPr lang="de-DE" b="1" i="0" dirty="0">
                <a:solidFill>
                  <a:srgbClr val="202122"/>
                </a:solidFill>
                <a:effectLst/>
                <a:latin typeface="Arial" panose="020B0604020202020204" pitchFamily="34" charset="0"/>
              </a:rPr>
              <a:t>E-Post</a:t>
            </a:r>
            <a:r>
              <a:rPr lang="de-DE" b="0" i="0" dirty="0">
                <a:solidFill>
                  <a:srgbClr val="202122"/>
                </a:solidFill>
                <a:effectLst/>
                <a:latin typeface="Arial" panose="020B0604020202020204" pitchFamily="34" charset="0"/>
              </a:rPr>
              <a:t>) ist zum einen ein System zur </a:t>
            </a:r>
            <a:r>
              <a:rPr lang="de-DE" b="0" i="0" u="none" strike="noStrike" dirty="0">
                <a:solidFill>
                  <a:srgbClr val="0645AD"/>
                </a:solidFill>
                <a:effectLst/>
                <a:latin typeface="Arial" panose="020B0604020202020204" pitchFamily="34" charset="0"/>
                <a:hlinkClick r:id="rId4" tooltip="Computer"/>
              </a:rPr>
              <a:t>computerbasierten</a:t>
            </a:r>
            <a:r>
              <a:rPr lang="de-DE" b="0" i="0" dirty="0">
                <a:solidFill>
                  <a:srgbClr val="202122"/>
                </a:solidFill>
                <a:effectLst/>
                <a:latin typeface="Arial" panose="020B0604020202020204" pitchFamily="34" charset="0"/>
              </a:rPr>
              <a:t> Verwaltung von briefähnlichen </a:t>
            </a:r>
            <a:r>
              <a:rPr lang="de-DE" b="0" i="0" u="none" strike="noStrike" dirty="0">
                <a:solidFill>
                  <a:srgbClr val="0645AD"/>
                </a:solidFill>
                <a:effectLst/>
                <a:latin typeface="Arial" panose="020B0604020202020204" pitchFamily="34" charset="0"/>
                <a:hlinkClick r:id="rId5" tooltip="Nachricht"/>
              </a:rPr>
              <a:t>Nachrichten</a:t>
            </a:r>
            <a:r>
              <a:rPr lang="de-DE" b="0" i="0" dirty="0">
                <a:solidFill>
                  <a:srgbClr val="202122"/>
                </a:solidFill>
                <a:effectLst/>
                <a:latin typeface="Arial" panose="020B0604020202020204" pitchFamily="34" charset="0"/>
              </a:rPr>
              <a:t> und deren Übertragung über </a:t>
            </a:r>
            <a:r>
              <a:rPr lang="de-DE" b="0" i="0" u="none" strike="noStrike" dirty="0">
                <a:solidFill>
                  <a:srgbClr val="0645AD"/>
                </a:solidFill>
                <a:effectLst/>
                <a:latin typeface="Arial" panose="020B0604020202020204" pitchFamily="34" charset="0"/>
                <a:hlinkClick r:id="rId6" tooltip="Computernetz"/>
              </a:rPr>
              <a:t>Computernetzwerke</a:t>
            </a:r>
            <a:r>
              <a:rPr lang="de-DE" b="0" i="0" dirty="0">
                <a:solidFill>
                  <a:srgbClr val="202122"/>
                </a:solidFill>
                <a:effectLst/>
                <a:latin typeface="Arial" panose="020B0604020202020204" pitchFamily="34" charset="0"/>
              </a:rPr>
              <a:t>, insbesondere über das </a:t>
            </a:r>
            <a:r>
              <a:rPr lang="de-DE" b="0" i="0" u="none" strike="noStrike" dirty="0">
                <a:solidFill>
                  <a:srgbClr val="0645AD"/>
                </a:solidFill>
                <a:effectLst/>
                <a:latin typeface="Arial" panose="020B0604020202020204" pitchFamily="34" charset="0"/>
                <a:hlinkClick r:id="rId7" tooltip="Internet"/>
              </a:rPr>
              <a:t>Internet</a:t>
            </a:r>
            <a:r>
              <a:rPr lang="de-DE" b="0" i="0" dirty="0">
                <a:solidFill>
                  <a:srgbClr val="202122"/>
                </a:solidFill>
                <a:effectLst/>
                <a:latin typeface="Arial" panose="020B0604020202020204" pitchFamily="34" charset="0"/>
              </a:rPr>
              <a:t>. Zum anderen werden auch die auf diesem elektronischen Weg übertragenen Nachrichten selbst als E-Mails bezeichnet.</a:t>
            </a:r>
          </a:p>
          <a:p>
            <a:pPr algn="l"/>
            <a:r>
              <a:rPr lang="de-DE" b="0" i="0" dirty="0">
                <a:solidFill>
                  <a:srgbClr val="202122"/>
                </a:solidFill>
                <a:effectLst/>
                <a:latin typeface="Arial" panose="020B0604020202020204" pitchFamily="34" charset="0"/>
              </a:rPr>
              <a:t>E-Mail ist neben dem </a:t>
            </a:r>
            <a:r>
              <a:rPr lang="de-DE" b="0" i="0" u="none" strike="noStrike" dirty="0">
                <a:solidFill>
                  <a:srgbClr val="0645AD"/>
                </a:solidFill>
                <a:effectLst/>
                <a:latin typeface="Arial" panose="020B0604020202020204" pitchFamily="34" charset="0"/>
                <a:hlinkClick r:id="rId8" tooltip="World Wide Web"/>
              </a:rPr>
              <a:t>World Wide Web</a:t>
            </a:r>
            <a:r>
              <a:rPr lang="de-DE" b="0" i="0" dirty="0">
                <a:solidFill>
                  <a:srgbClr val="202122"/>
                </a:solidFill>
                <a:effectLst/>
                <a:latin typeface="Arial" panose="020B0604020202020204" pitchFamily="34" charset="0"/>
              </a:rPr>
              <a:t> ein wichtiger </a:t>
            </a:r>
            <a:r>
              <a:rPr lang="de-DE" b="0" i="0" u="none" strike="noStrike" dirty="0">
                <a:solidFill>
                  <a:srgbClr val="0645AD"/>
                </a:solidFill>
                <a:effectLst/>
                <a:latin typeface="Arial" panose="020B0604020202020204" pitchFamily="34" charset="0"/>
                <a:hlinkClick r:id="rId9" tooltip="Internetdienst"/>
              </a:rPr>
              <a:t>Internetdienst</a:t>
            </a:r>
            <a:r>
              <a:rPr lang="de-DE" b="0" i="0" dirty="0">
                <a:solidFill>
                  <a:srgbClr val="202122"/>
                </a:solidFill>
                <a:effectLst/>
                <a:latin typeface="Arial" panose="020B0604020202020204" pitchFamily="34" charset="0"/>
              </a:rPr>
              <a:t>, nicht zuletzt, weil es durch E-Mails möglich ist, Textnachrichten ebenso wie digitale Dokumente (also z. B. Grafiken oder </a:t>
            </a:r>
            <a:r>
              <a:rPr lang="de-DE" b="0" i="0" u="none" strike="noStrike" dirty="0">
                <a:solidFill>
                  <a:srgbClr val="0645AD"/>
                </a:solidFill>
                <a:effectLst/>
                <a:latin typeface="Arial" panose="020B0604020202020204" pitchFamily="34" charset="0"/>
                <a:hlinkClick r:id="rId10" tooltip="Office-Paket"/>
              </a:rPr>
              <a:t>Office</a:t>
            </a:r>
            <a:r>
              <a:rPr lang="de-DE" b="0" i="0" dirty="0">
                <a:solidFill>
                  <a:srgbClr val="202122"/>
                </a:solidFill>
                <a:effectLst/>
                <a:latin typeface="Arial" panose="020B0604020202020204" pitchFamily="34" charset="0"/>
              </a:rPr>
              <a:t>-Dokumente) typischerweise in wenigen Sekunden rund um die Erde zu senden.</a:t>
            </a:r>
          </a:p>
          <a:p>
            <a:pPr algn="l"/>
            <a:r>
              <a:rPr lang="de-DE" b="0" i="0" dirty="0">
                <a:solidFill>
                  <a:srgbClr val="202122"/>
                </a:solidFill>
                <a:effectLst/>
                <a:latin typeface="Arial" panose="020B0604020202020204" pitchFamily="34" charset="0"/>
              </a:rPr>
              <a:t>Im Gegensatz zu Telefon oder </a:t>
            </a:r>
            <a:r>
              <a:rPr lang="de-DE" b="0" i="0" u="none" strike="noStrike" dirty="0">
                <a:solidFill>
                  <a:srgbClr val="0645AD"/>
                </a:solidFill>
                <a:effectLst/>
                <a:latin typeface="Arial" panose="020B0604020202020204" pitchFamily="34" charset="0"/>
                <a:hlinkClick r:id="rId11" tooltip="Internet Relay Chat"/>
              </a:rPr>
              <a:t>Internet Relay Chat</a:t>
            </a:r>
            <a:r>
              <a:rPr lang="de-DE" b="0" i="0" dirty="0">
                <a:solidFill>
                  <a:srgbClr val="202122"/>
                </a:solidFill>
                <a:effectLst/>
                <a:latin typeface="Arial" panose="020B0604020202020204" pitchFamily="34" charset="0"/>
              </a:rPr>
              <a:t>, die gleichzeitige (synchrone) Kommunikation ermöglichen, ist die E-Mail – wie die Briefpost – ein </a:t>
            </a:r>
            <a:r>
              <a:rPr lang="de-DE" b="0" i="0" u="none" strike="noStrike" dirty="0">
                <a:solidFill>
                  <a:srgbClr val="0645AD"/>
                </a:solidFill>
                <a:effectLst/>
                <a:latin typeface="Arial" panose="020B0604020202020204" pitchFamily="34" charset="0"/>
                <a:hlinkClick r:id="rId12" tooltip="Asynchrone Kommunikation"/>
              </a:rPr>
              <a:t>asynchrones Kommunikationsmedium</a:t>
            </a:r>
            <a:r>
              <a:rPr lang="de-DE" b="0" i="0" dirty="0">
                <a:solidFill>
                  <a:srgbClr val="202122"/>
                </a:solidFill>
                <a:effectLst/>
                <a:latin typeface="Arial" panose="020B0604020202020204" pitchFamily="34" charset="0"/>
              </a:rPr>
              <a:t>: Der Sender versendet seine Nachricht unabhängig davon, ob der Empfänger sie sofort entgegennehmen kann oder nicht.“ - https://de.wikipedia.org/wiki/E-Mail</a:t>
            </a: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algn="l"/>
            <a:r>
              <a:rPr lang="de-DE" dirty="0"/>
              <a:t>- „</a:t>
            </a:r>
            <a:r>
              <a:rPr lang="de-DE" b="0" i="0" dirty="0">
                <a:solidFill>
                  <a:srgbClr val="202122"/>
                </a:solidFill>
                <a:effectLst/>
                <a:latin typeface="Arial" panose="020B0604020202020204" pitchFamily="34" charset="0"/>
              </a:rPr>
              <a:t>Das </a:t>
            </a:r>
            <a:r>
              <a:rPr lang="de-DE" b="1" i="0" dirty="0">
                <a:solidFill>
                  <a:srgbClr val="202122"/>
                </a:solidFill>
                <a:effectLst/>
                <a:latin typeface="Arial" panose="020B0604020202020204" pitchFamily="34" charset="0"/>
              </a:rPr>
              <a:t>Internet</a:t>
            </a:r>
            <a:r>
              <a:rPr lang="de-DE" b="0" i="0" dirty="0">
                <a:solidFill>
                  <a:srgbClr val="202122"/>
                </a:solidFill>
                <a:effectLst/>
                <a:latin typeface="Arial" panose="020B0604020202020204" pitchFamily="34" charset="0"/>
              </a:rPr>
              <a:t> (von </a:t>
            </a:r>
            <a:r>
              <a:rPr lang="de-DE" b="0" i="0" u="none" strike="noStrike" dirty="0">
                <a:solidFill>
                  <a:srgbClr val="0645AD"/>
                </a:solidFill>
                <a:effectLst/>
                <a:latin typeface="Arial" panose="020B0604020202020204" pitchFamily="34" charset="0"/>
                <a:hlinkClick r:id="rId13" tooltip="Englische Sprache"/>
              </a:rPr>
              <a:t>englisch</a:t>
            </a:r>
            <a:r>
              <a:rPr lang="de-DE" b="0" i="0" dirty="0">
                <a:solidFill>
                  <a:srgbClr val="202122"/>
                </a:solidFill>
                <a:effectLst/>
                <a:latin typeface="Arial" panose="020B0604020202020204" pitchFamily="34" charset="0"/>
              </a:rPr>
              <a:t> </a:t>
            </a:r>
            <a:r>
              <a:rPr lang="de-DE" b="0" i="1" dirty="0" err="1">
                <a:solidFill>
                  <a:srgbClr val="202122"/>
                </a:solidFill>
                <a:effectLst/>
                <a:latin typeface="Arial" panose="020B0604020202020204" pitchFamily="34" charset="0"/>
              </a:rPr>
              <a:t>interconnected</a:t>
            </a:r>
            <a:r>
              <a:rPr lang="de-DE" b="0" i="1" dirty="0">
                <a:solidFill>
                  <a:srgbClr val="202122"/>
                </a:solidFill>
                <a:effectLst/>
                <a:latin typeface="Arial" panose="020B0604020202020204" pitchFamily="34" charset="0"/>
              </a:rPr>
              <a:t> </a:t>
            </a:r>
            <a:r>
              <a:rPr lang="de-DE" b="0" i="1" dirty="0" err="1">
                <a:solidFill>
                  <a:srgbClr val="202122"/>
                </a:solidFill>
                <a:effectLst/>
                <a:latin typeface="Arial" panose="020B0604020202020204" pitchFamily="34" charset="0"/>
              </a:rPr>
              <a:t>networks</a:t>
            </a:r>
            <a:r>
              <a:rPr lang="de-DE" b="0" i="0" dirty="0">
                <a:solidFill>
                  <a:srgbClr val="202122"/>
                </a:solidFill>
                <a:effectLst/>
                <a:latin typeface="Arial" panose="020B0604020202020204" pitchFamily="34" charset="0"/>
              </a:rPr>
              <a:t> ‚zusammengeschaltete Netzwerke‘, kürzer </a:t>
            </a:r>
            <a:r>
              <a:rPr lang="de-DE" b="0" i="0" u="none" strike="noStrike" dirty="0">
                <a:solidFill>
                  <a:srgbClr val="0645AD"/>
                </a:solidFill>
                <a:effectLst/>
                <a:latin typeface="Arial" panose="020B0604020202020204" pitchFamily="34" charset="0"/>
                <a:hlinkClick r:id="rId13" tooltip="Englische Sprache"/>
              </a:rPr>
              <a:t>englisch</a:t>
            </a:r>
            <a:r>
              <a:rPr lang="de-DE" b="0" i="0" dirty="0">
                <a:solidFill>
                  <a:srgbClr val="202122"/>
                </a:solidFill>
                <a:effectLst/>
                <a:latin typeface="Arial" panose="020B0604020202020204" pitchFamily="34" charset="0"/>
              </a:rPr>
              <a:t> </a:t>
            </a:r>
            <a:r>
              <a:rPr lang="de-DE" b="0" i="1" dirty="0" err="1">
                <a:solidFill>
                  <a:srgbClr val="202122"/>
                </a:solidFill>
                <a:effectLst/>
                <a:latin typeface="Arial" panose="020B0604020202020204" pitchFamily="34" charset="0"/>
              </a:rPr>
              <a:t>internetwork</a:t>
            </a:r>
            <a:r>
              <a:rPr lang="de-DE" b="0" i="0" dirty="0">
                <a:solidFill>
                  <a:srgbClr val="202122"/>
                </a:solidFill>
                <a:effectLst/>
                <a:latin typeface="Arial" panose="020B0604020202020204" pitchFamily="34" charset="0"/>
              </a:rPr>
              <a:t> oder kurz </a:t>
            </a:r>
            <a:r>
              <a:rPr lang="de-DE" b="0" i="1" dirty="0" err="1">
                <a:solidFill>
                  <a:srgbClr val="202122"/>
                </a:solidFill>
                <a:effectLst/>
                <a:latin typeface="Arial" panose="020B0604020202020204" pitchFamily="34" charset="0"/>
              </a:rPr>
              <a:t>net</a:t>
            </a:r>
            <a:r>
              <a:rPr lang="de-DE" b="0" i="0" dirty="0">
                <a:solidFill>
                  <a:srgbClr val="202122"/>
                </a:solidFill>
                <a:effectLst/>
                <a:latin typeface="Arial" panose="020B0604020202020204" pitchFamily="34" charset="0"/>
              </a:rPr>
              <a:t> ‚Netz‘), umgangssprachlich auch </a:t>
            </a:r>
            <a:r>
              <a:rPr lang="de-DE" b="1" i="0" dirty="0">
                <a:solidFill>
                  <a:srgbClr val="202122"/>
                </a:solidFill>
                <a:effectLst/>
                <a:latin typeface="Arial" panose="020B0604020202020204" pitchFamily="34" charset="0"/>
              </a:rPr>
              <a:t>Netz</a:t>
            </a:r>
            <a:r>
              <a:rPr lang="de-DE" b="0" i="0" dirty="0">
                <a:solidFill>
                  <a:srgbClr val="202122"/>
                </a:solidFill>
                <a:effectLst/>
                <a:latin typeface="Arial" panose="020B0604020202020204" pitchFamily="34" charset="0"/>
              </a:rPr>
              <a:t>, ist ein weltweiter Verbund von </a:t>
            </a:r>
            <a:r>
              <a:rPr lang="de-DE" b="0" i="0" u="none" strike="noStrike" dirty="0">
                <a:solidFill>
                  <a:srgbClr val="0645AD"/>
                </a:solidFill>
                <a:effectLst/>
                <a:latin typeface="Arial" panose="020B0604020202020204" pitchFamily="34" charset="0"/>
                <a:hlinkClick r:id="rId14" tooltip="Rechnernetz"/>
              </a:rPr>
              <a:t>Rechnernetzwerken</a:t>
            </a:r>
            <a:r>
              <a:rPr lang="de-DE" b="0" i="0" dirty="0">
                <a:solidFill>
                  <a:srgbClr val="202122"/>
                </a:solidFill>
                <a:effectLst/>
                <a:latin typeface="Arial" panose="020B0604020202020204" pitchFamily="34" charset="0"/>
              </a:rPr>
              <a:t>, den </a:t>
            </a:r>
            <a:r>
              <a:rPr lang="de-DE" b="0" i="0" u="none" strike="noStrike" dirty="0">
                <a:solidFill>
                  <a:srgbClr val="0645AD"/>
                </a:solidFill>
                <a:effectLst/>
                <a:latin typeface="Arial" panose="020B0604020202020204" pitchFamily="34" charset="0"/>
                <a:hlinkClick r:id="rId15" tooltip="Autonomes System"/>
              </a:rPr>
              <a:t>autonomen Systemen</a:t>
            </a:r>
            <a:r>
              <a:rPr lang="de-DE" b="0" i="0" dirty="0">
                <a:solidFill>
                  <a:srgbClr val="202122"/>
                </a:solidFill>
                <a:effectLst/>
                <a:latin typeface="Arial" panose="020B0604020202020204" pitchFamily="34" charset="0"/>
              </a:rPr>
              <a:t>. Es ermöglicht die Nutzung von </a:t>
            </a:r>
            <a:r>
              <a:rPr lang="de-DE" b="0" i="0" u="none" strike="noStrike" dirty="0">
                <a:solidFill>
                  <a:srgbClr val="0645AD"/>
                </a:solidFill>
                <a:effectLst/>
                <a:latin typeface="Arial" panose="020B0604020202020204" pitchFamily="34" charset="0"/>
                <a:hlinkClick r:id="rId9" tooltip="Internetdienst"/>
              </a:rPr>
              <a:t>Internetdiensten</a:t>
            </a:r>
            <a:r>
              <a:rPr lang="de-DE" b="0" i="0" dirty="0">
                <a:solidFill>
                  <a:srgbClr val="202122"/>
                </a:solidFill>
                <a:effectLst/>
                <a:latin typeface="Arial" panose="020B0604020202020204" pitchFamily="34" charset="0"/>
              </a:rPr>
              <a:t> wie </a:t>
            </a:r>
            <a:r>
              <a:rPr lang="de-DE" b="0" i="0" u="none" strike="noStrike" dirty="0">
                <a:solidFill>
                  <a:srgbClr val="0645AD"/>
                </a:solidFill>
                <a:effectLst/>
                <a:latin typeface="Arial" panose="020B0604020202020204" pitchFamily="34" charset="0"/>
                <a:hlinkClick r:id="rId8" tooltip="World Wide Web"/>
              </a:rPr>
              <a:t>WWW</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16" tooltip="E-Mail"/>
              </a:rPr>
              <a:t>E-Mail</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17" tooltip="Telnet"/>
              </a:rPr>
              <a:t>Telnet</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18" tooltip="Secure Shell"/>
              </a:rPr>
              <a:t>SSH</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19" tooltip="Extensible Messaging and Presence Protocol"/>
              </a:rPr>
              <a:t>XMPP</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20" tooltip="MQTT"/>
              </a:rPr>
              <a:t>MQTT</a:t>
            </a:r>
            <a:r>
              <a:rPr lang="de-DE" b="0" i="0" dirty="0">
                <a:solidFill>
                  <a:srgbClr val="202122"/>
                </a:solidFill>
                <a:effectLst/>
                <a:latin typeface="Arial" panose="020B0604020202020204" pitchFamily="34" charset="0"/>
              </a:rPr>
              <a:t> und </a:t>
            </a:r>
            <a:r>
              <a:rPr lang="de-DE" b="0" i="0" u="none" strike="noStrike" dirty="0">
                <a:solidFill>
                  <a:srgbClr val="0645AD"/>
                </a:solidFill>
                <a:effectLst/>
                <a:latin typeface="Arial" panose="020B0604020202020204" pitchFamily="34" charset="0"/>
                <a:hlinkClick r:id="rId21" tooltip="File Transfer Protocol"/>
              </a:rPr>
              <a:t>FTP</a:t>
            </a:r>
            <a:r>
              <a:rPr lang="de-DE" b="0" i="0" dirty="0">
                <a:solidFill>
                  <a:srgbClr val="202122"/>
                </a:solidFill>
                <a:effectLst/>
                <a:latin typeface="Arial" panose="020B0604020202020204" pitchFamily="34" charset="0"/>
              </a:rPr>
              <a:t>. Dabei kann sich jeder Rechner mit jedem anderen Rechner verbinden. Der </a:t>
            </a:r>
            <a:r>
              <a:rPr lang="de-DE" b="0" i="0" u="none" strike="noStrike" dirty="0">
                <a:solidFill>
                  <a:srgbClr val="0645AD"/>
                </a:solidFill>
                <a:effectLst/>
                <a:latin typeface="Arial" panose="020B0604020202020204" pitchFamily="34" charset="0"/>
                <a:hlinkClick r:id="rId22" tooltip="Datenaustausch"/>
              </a:rPr>
              <a:t>Datenaustausch</a:t>
            </a:r>
            <a:r>
              <a:rPr lang="de-DE" b="0" i="0" dirty="0">
                <a:solidFill>
                  <a:srgbClr val="202122"/>
                </a:solidFill>
                <a:effectLst/>
                <a:latin typeface="Arial" panose="020B0604020202020204" pitchFamily="34" charset="0"/>
              </a:rPr>
              <a:t> zwischen den über das Internet verbundenen Rechnern erfolgt über die technisch normierten </a:t>
            </a:r>
            <a:r>
              <a:rPr lang="de-DE" b="0" i="0" u="none" strike="noStrike" dirty="0">
                <a:solidFill>
                  <a:srgbClr val="0645AD"/>
                </a:solidFill>
                <a:effectLst/>
                <a:latin typeface="Arial" panose="020B0604020202020204" pitchFamily="34" charset="0"/>
                <a:hlinkClick r:id="rId23" tooltip="Internetprotokollfamilie"/>
              </a:rPr>
              <a:t>Internetprotokolle</a:t>
            </a:r>
            <a:r>
              <a:rPr lang="de-DE" b="0" i="0" dirty="0">
                <a:solidFill>
                  <a:srgbClr val="202122"/>
                </a:solidFill>
                <a:effectLst/>
                <a:latin typeface="Arial" panose="020B0604020202020204" pitchFamily="34" charset="0"/>
              </a:rPr>
              <a:t>. Die Technik des Internets wird durch die </a:t>
            </a:r>
            <a:r>
              <a:rPr lang="de-DE" b="0" i="0" u="none" strike="noStrike" dirty="0">
                <a:solidFill>
                  <a:srgbClr val="0645AD"/>
                </a:solidFill>
                <a:effectLst/>
                <a:latin typeface="Arial" panose="020B0604020202020204" pitchFamily="34" charset="0"/>
                <a:hlinkClick r:id="rId24" tooltip="Request for Comments"/>
              </a:rPr>
              <a:t>RFCs</a:t>
            </a:r>
            <a:r>
              <a:rPr lang="de-DE" b="0" i="0" dirty="0">
                <a:solidFill>
                  <a:srgbClr val="202122"/>
                </a:solidFill>
                <a:effectLst/>
                <a:latin typeface="Arial" panose="020B0604020202020204" pitchFamily="34" charset="0"/>
              </a:rPr>
              <a:t> der </a:t>
            </a:r>
            <a:r>
              <a:rPr lang="de-DE" b="0" i="0" u="none" strike="noStrike" dirty="0">
                <a:solidFill>
                  <a:srgbClr val="0645AD"/>
                </a:solidFill>
                <a:effectLst/>
                <a:latin typeface="Arial" panose="020B0604020202020204" pitchFamily="34" charset="0"/>
                <a:hlinkClick r:id="rId25" tooltip="Internet Engineering Task Force"/>
              </a:rPr>
              <a:t>Internet Engineering Task Force</a:t>
            </a:r>
            <a:r>
              <a:rPr lang="de-DE" b="0" i="0" dirty="0">
                <a:solidFill>
                  <a:srgbClr val="202122"/>
                </a:solidFill>
                <a:effectLst/>
                <a:latin typeface="Arial" panose="020B0604020202020204" pitchFamily="34" charset="0"/>
              </a:rPr>
              <a:t> (IETF) beschrieben.</a:t>
            </a:r>
          </a:p>
          <a:p>
            <a:pPr algn="l"/>
            <a:r>
              <a:rPr lang="de-DE" b="0" i="0" dirty="0">
                <a:solidFill>
                  <a:srgbClr val="202122"/>
                </a:solidFill>
                <a:effectLst/>
                <a:latin typeface="Arial" panose="020B0604020202020204" pitchFamily="34" charset="0"/>
              </a:rPr>
              <a:t>Die Verbreitung des Internets hat zu umfassenden Umwälzungen in vielen Lebensbereichen geführt. Es trug zu einem Modernisierungsschub in vielen Wirtschaftsbereichen sowie zur Entstehung neuer Wirtschaftszweige bei und hat zu einem grundlegenden Wandel des Kommunikationsverhaltens und der Mediennutzung im beruflichen und privaten Bereich geführt. Die kulturelle Bedeutung dieser Entwicklung wird manchmal mit der Erfindung des </a:t>
            </a:r>
            <a:r>
              <a:rPr lang="de-DE" b="0" i="0" u="none" strike="noStrike" dirty="0">
                <a:solidFill>
                  <a:srgbClr val="0645AD"/>
                </a:solidFill>
                <a:effectLst/>
                <a:latin typeface="Arial" panose="020B0604020202020204" pitchFamily="34" charset="0"/>
                <a:hlinkClick r:id="rId26" tooltip="Buchdruck"/>
              </a:rPr>
              <a:t>Buchdrucks</a:t>
            </a:r>
            <a:r>
              <a:rPr lang="de-DE" b="0" i="0" dirty="0">
                <a:solidFill>
                  <a:srgbClr val="202122"/>
                </a:solidFill>
                <a:effectLst/>
                <a:latin typeface="Arial" panose="020B0604020202020204" pitchFamily="34" charset="0"/>
              </a:rPr>
              <a:t> gleichgesetzt.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b="0" i="0" dirty="0">
                <a:solidFill>
                  <a:srgbClr val="202122"/>
                </a:solidFill>
                <a:effectLst/>
                <a:latin typeface="Arial" panose="020B0604020202020204" pitchFamily="34" charset="0"/>
              </a:rPr>
              <a:t>Das Internet gilt bei vielen Experten als eine der größten Veränderungen des Informationswesens seit der Erfindung des </a:t>
            </a:r>
            <a:r>
              <a:rPr lang="de-DE" b="0" i="0" u="none" strike="noStrike" dirty="0">
                <a:solidFill>
                  <a:srgbClr val="0645AD"/>
                </a:solidFill>
                <a:effectLst/>
                <a:latin typeface="Arial" panose="020B0604020202020204" pitchFamily="34" charset="0"/>
                <a:hlinkClick r:id="rId26" tooltip="Buchdruck"/>
              </a:rPr>
              <a:t>Buchdrucks</a:t>
            </a:r>
            <a:r>
              <a:rPr lang="de-DE" b="0" i="0" dirty="0">
                <a:solidFill>
                  <a:srgbClr val="202122"/>
                </a:solidFill>
                <a:effectLst/>
                <a:latin typeface="Arial" panose="020B0604020202020204" pitchFamily="34" charset="0"/>
              </a:rPr>
              <a:t> mit großen Auswirkungen auf das alltägliche Leben. Im Jahr 2013 hat der </a:t>
            </a:r>
            <a:r>
              <a:rPr lang="de-DE" b="0" i="0" u="none" strike="noStrike" dirty="0">
                <a:solidFill>
                  <a:srgbClr val="0645AD"/>
                </a:solidFill>
                <a:effectLst/>
                <a:latin typeface="Arial" panose="020B0604020202020204" pitchFamily="34" charset="0"/>
                <a:hlinkClick r:id="rId27" tooltip="Bundesgerichtshof"/>
              </a:rPr>
              <a:t>Bundesgerichtshof</a:t>
            </a:r>
            <a:r>
              <a:rPr lang="de-DE" b="0" i="0" dirty="0">
                <a:solidFill>
                  <a:srgbClr val="202122"/>
                </a:solidFill>
                <a:effectLst/>
                <a:latin typeface="Arial" panose="020B0604020202020204" pitchFamily="34" charset="0"/>
              </a:rPr>
              <a:t> erklärt, dass das Internet zur Lebensgrundlage von Privatpersonen gehört.“ - https://de.wikipedia.org/wiki/Internet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0" i="0" dirty="0">
              <a:solidFill>
                <a:srgbClr val="202122"/>
              </a:solidFill>
              <a:effectLst/>
              <a:latin typeface="Arial" panose="020B0604020202020204" pitchFamily="34" charset="0"/>
            </a:endParaRPr>
          </a:p>
          <a:p>
            <a:pPr algn="l"/>
            <a:r>
              <a:rPr lang="de-DE" b="0" i="0" dirty="0">
                <a:solidFill>
                  <a:srgbClr val="202122"/>
                </a:solidFill>
                <a:effectLst/>
                <a:latin typeface="Arial" panose="020B0604020202020204" pitchFamily="34" charset="0"/>
              </a:rPr>
              <a:t>- „Ein </a:t>
            </a:r>
            <a:r>
              <a:rPr lang="de-DE" b="1" i="0" dirty="0">
                <a:solidFill>
                  <a:srgbClr val="202122"/>
                </a:solidFill>
                <a:effectLst/>
                <a:latin typeface="Arial" panose="020B0604020202020204" pitchFamily="34" charset="0"/>
              </a:rPr>
              <a:t>Computer</a:t>
            </a:r>
            <a:r>
              <a:rPr lang="de-DE" b="0" i="0" dirty="0">
                <a:solidFill>
                  <a:srgbClr val="202122"/>
                </a:solidFill>
                <a:effectLst/>
                <a:latin typeface="Arial" panose="020B0604020202020204" pitchFamily="34" charset="0"/>
              </a:rPr>
              <a:t> oder </a:t>
            </a:r>
            <a:r>
              <a:rPr lang="de-DE" b="1" i="0" dirty="0">
                <a:solidFill>
                  <a:srgbClr val="202122"/>
                </a:solidFill>
                <a:effectLst/>
                <a:latin typeface="Arial" panose="020B0604020202020204" pitchFamily="34" charset="0"/>
              </a:rPr>
              <a:t>Rechner</a:t>
            </a:r>
            <a:r>
              <a:rPr lang="de-DE" b="0" i="0" dirty="0">
                <a:solidFill>
                  <a:srgbClr val="202122"/>
                </a:solidFill>
                <a:effectLst/>
                <a:latin typeface="Arial" panose="020B0604020202020204" pitchFamily="34" charset="0"/>
              </a:rPr>
              <a:t> ist ein Gerät, das mittels </a:t>
            </a:r>
            <a:r>
              <a:rPr lang="de-DE" b="0" i="0" u="none" strike="noStrike" dirty="0">
                <a:solidFill>
                  <a:srgbClr val="0645AD"/>
                </a:solidFill>
                <a:effectLst/>
                <a:latin typeface="Arial" panose="020B0604020202020204" pitchFamily="34" charset="0"/>
                <a:hlinkClick r:id="rId28" tooltip="Programmierung"/>
              </a:rPr>
              <a:t>programmierbarer</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29" tooltip="Algorithmus"/>
              </a:rPr>
              <a:t>Rechenvorschriften</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30" tooltip="Datenverarbeitung"/>
              </a:rPr>
              <a:t>Daten verarbeitet</a:t>
            </a:r>
            <a:r>
              <a:rPr lang="de-DE" b="0" i="0" dirty="0">
                <a:solidFill>
                  <a:srgbClr val="202122"/>
                </a:solidFill>
                <a:effectLst/>
                <a:latin typeface="Arial" panose="020B0604020202020204" pitchFamily="34" charset="0"/>
              </a:rPr>
              <a:t>. Dementsprechend werden vereinzelt auch die abstrahierenden beziehungsweise veralteten, synonym gebrauchten Begriffe </a:t>
            </a:r>
            <a:r>
              <a:rPr lang="de-DE" b="1" i="0" dirty="0">
                <a:solidFill>
                  <a:srgbClr val="202122"/>
                </a:solidFill>
                <a:effectLst/>
                <a:latin typeface="Arial" panose="020B0604020202020204" pitchFamily="34" charset="0"/>
              </a:rPr>
              <a:t>Rechenanlage</a:t>
            </a:r>
            <a:r>
              <a:rPr lang="de-DE" b="0" i="0" dirty="0">
                <a:solidFill>
                  <a:srgbClr val="202122"/>
                </a:solidFill>
                <a:effectLst/>
                <a:latin typeface="Arial" panose="020B0604020202020204" pitchFamily="34" charset="0"/>
              </a:rPr>
              <a:t>, </a:t>
            </a:r>
            <a:r>
              <a:rPr lang="de-DE" b="1" i="0" dirty="0">
                <a:solidFill>
                  <a:srgbClr val="202122"/>
                </a:solidFill>
                <a:effectLst/>
                <a:latin typeface="Arial" panose="020B0604020202020204" pitchFamily="34" charset="0"/>
              </a:rPr>
              <a:t>Datenverarbeitungsanlage</a:t>
            </a:r>
            <a:r>
              <a:rPr lang="de-DE" b="0" i="0" dirty="0">
                <a:solidFill>
                  <a:srgbClr val="202122"/>
                </a:solidFill>
                <a:effectLst/>
                <a:latin typeface="Arial" panose="020B0604020202020204" pitchFamily="34" charset="0"/>
              </a:rPr>
              <a:t> oder </a:t>
            </a:r>
            <a:r>
              <a:rPr lang="de-DE" b="1" i="0" dirty="0">
                <a:solidFill>
                  <a:srgbClr val="202122"/>
                </a:solidFill>
                <a:effectLst/>
                <a:latin typeface="Arial" panose="020B0604020202020204" pitchFamily="34" charset="0"/>
              </a:rPr>
              <a:t>elektronische Datenverarbeitungsanlage</a:t>
            </a:r>
            <a:r>
              <a:rPr lang="de-DE" b="0" i="0" dirty="0">
                <a:solidFill>
                  <a:srgbClr val="202122"/>
                </a:solidFill>
                <a:effectLst/>
                <a:latin typeface="Arial" panose="020B0604020202020204" pitchFamily="34" charset="0"/>
              </a:rPr>
              <a:t> sowie </a:t>
            </a:r>
            <a:r>
              <a:rPr lang="de-DE" b="1" i="0" dirty="0">
                <a:solidFill>
                  <a:srgbClr val="202122"/>
                </a:solidFill>
                <a:effectLst/>
                <a:latin typeface="Arial" panose="020B0604020202020204" pitchFamily="34" charset="0"/>
              </a:rPr>
              <a:t>Elektronengehirn</a:t>
            </a:r>
            <a:r>
              <a:rPr lang="de-DE" b="0" i="0" dirty="0">
                <a:solidFill>
                  <a:srgbClr val="202122"/>
                </a:solidFill>
                <a:effectLst/>
                <a:latin typeface="Arial" panose="020B0604020202020204" pitchFamily="34" charset="0"/>
              </a:rPr>
              <a:t> verwendet.</a:t>
            </a:r>
          </a:p>
          <a:p>
            <a:pPr algn="l"/>
            <a:r>
              <a:rPr lang="de-DE" b="0" i="0" u="none" strike="noStrike" dirty="0">
                <a:solidFill>
                  <a:srgbClr val="0645AD"/>
                </a:solidFill>
                <a:effectLst/>
                <a:latin typeface="Arial" panose="020B0604020202020204" pitchFamily="34" charset="0"/>
                <a:hlinkClick r:id="rId31" tooltip="Charles Babbage"/>
              </a:rPr>
              <a:t>Charles Babbage</a:t>
            </a:r>
            <a:r>
              <a:rPr lang="de-DE" b="0" i="0" dirty="0">
                <a:solidFill>
                  <a:srgbClr val="202122"/>
                </a:solidFill>
                <a:effectLst/>
                <a:latin typeface="Arial" panose="020B0604020202020204" pitchFamily="34" charset="0"/>
              </a:rPr>
              <a:t> und </a:t>
            </a:r>
            <a:r>
              <a:rPr lang="de-DE" b="0" i="0" u="none" strike="noStrike" dirty="0">
                <a:solidFill>
                  <a:srgbClr val="0645AD"/>
                </a:solidFill>
                <a:effectLst/>
                <a:latin typeface="Arial" panose="020B0604020202020204" pitchFamily="34" charset="0"/>
                <a:hlinkClick r:id="rId32" tooltip="Ada Lovelace"/>
              </a:rPr>
              <a:t>Ada Lovelace</a:t>
            </a:r>
            <a:r>
              <a:rPr lang="de-DE" b="0" i="0" dirty="0">
                <a:solidFill>
                  <a:srgbClr val="202122"/>
                </a:solidFill>
                <a:effectLst/>
                <a:latin typeface="Arial" panose="020B0604020202020204" pitchFamily="34" charset="0"/>
              </a:rPr>
              <a:t> (geborene </a:t>
            </a:r>
            <a:r>
              <a:rPr lang="de-DE" b="0" i="0" u="none" strike="noStrike" dirty="0">
                <a:solidFill>
                  <a:srgbClr val="0645AD"/>
                </a:solidFill>
                <a:effectLst/>
                <a:latin typeface="Arial" panose="020B0604020202020204" pitchFamily="34" charset="0"/>
                <a:hlinkClick r:id="rId33" tooltip="George Gordon Byron"/>
              </a:rPr>
              <a:t>Byron</a:t>
            </a:r>
            <a:r>
              <a:rPr lang="de-DE" b="0" i="0" dirty="0">
                <a:solidFill>
                  <a:srgbClr val="202122"/>
                </a:solidFill>
                <a:effectLst/>
                <a:latin typeface="Arial" panose="020B0604020202020204" pitchFamily="34" charset="0"/>
              </a:rPr>
              <a:t>) gelten durch die von Babbage 1837 entworfene </a:t>
            </a:r>
            <a:r>
              <a:rPr lang="de-DE" b="0" i="0" u="none" strike="noStrike" dirty="0">
                <a:solidFill>
                  <a:srgbClr val="0645AD"/>
                </a:solidFill>
                <a:effectLst/>
                <a:latin typeface="Arial" panose="020B0604020202020204" pitchFamily="34" charset="0"/>
                <a:hlinkClick r:id="rId34" tooltip="Rechenmaschine"/>
              </a:rPr>
              <a:t>Rechenmaschine</a:t>
            </a:r>
            <a:r>
              <a:rPr lang="de-DE" b="0" i="0" dirty="0">
                <a:solidFill>
                  <a:srgbClr val="202122"/>
                </a:solidFill>
                <a:effectLst/>
                <a:latin typeface="Arial" panose="020B0604020202020204" pitchFamily="34" charset="0"/>
              </a:rPr>
              <a:t> </a:t>
            </a:r>
            <a:r>
              <a:rPr lang="de-DE" b="0" i="1" u="none" strike="noStrike" dirty="0">
                <a:solidFill>
                  <a:srgbClr val="0645AD"/>
                </a:solidFill>
                <a:effectLst/>
                <a:latin typeface="Arial" panose="020B0604020202020204" pitchFamily="34" charset="0"/>
                <a:hlinkClick r:id="rId35" tooltip="Analytical Engine"/>
              </a:rPr>
              <a:t>Analytical Engine</a:t>
            </a:r>
            <a:r>
              <a:rPr lang="de-DE" b="0" i="0" dirty="0">
                <a:solidFill>
                  <a:srgbClr val="202122"/>
                </a:solidFill>
                <a:effectLst/>
                <a:latin typeface="Arial" panose="020B0604020202020204" pitchFamily="34" charset="0"/>
              </a:rPr>
              <a:t> als Vordenker des modernen universell programmierbaren Computers. </a:t>
            </a:r>
            <a:r>
              <a:rPr lang="de-DE" b="0" i="0" u="none" strike="noStrike" dirty="0">
                <a:solidFill>
                  <a:srgbClr val="0645AD"/>
                </a:solidFill>
                <a:effectLst/>
                <a:latin typeface="Arial" panose="020B0604020202020204" pitchFamily="34" charset="0"/>
                <a:hlinkClick r:id="rId36" tooltip="Konrad Zuse"/>
              </a:rPr>
              <a:t>Konrad Zuse</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37" tooltip="Zuse Z3"/>
              </a:rPr>
              <a:t>Z3</a:t>
            </a:r>
            <a:r>
              <a:rPr lang="de-DE" b="0" i="0" dirty="0">
                <a:solidFill>
                  <a:srgbClr val="202122"/>
                </a:solidFill>
                <a:effectLst/>
                <a:latin typeface="Arial" panose="020B0604020202020204" pitchFamily="34" charset="0"/>
              </a:rPr>
              <a:t>, 1941 und </a:t>
            </a:r>
            <a:r>
              <a:rPr lang="de-DE" b="0" i="0" u="none" strike="noStrike" dirty="0">
                <a:solidFill>
                  <a:srgbClr val="0645AD"/>
                </a:solidFill>
                <a:effectLst/>
                <a:latin typeface="Arial" panose="020B0604020202020204" pitchFamily="34" charset="0"/>
                <a:hlinkClick r:id="rId38" tooltip="Zuse Z4"/>
              </a:rPr>
              <a:t>Z4</a:t>
            </a:r>
            <a:r>
              <a:rPr lang="de-DE" b="0" i="0" dirty="0">
                <a:solidFill>
                  <a:srgbClr val="202122"/>
                </a:solidFill>
                <a:effectLst/>
                <a:latin typeface="Arial" panose="020B0604020202020204" pitchFamily="34" charset="0"/>
              </a:rPr>
              <a:t>, 1945) in Berlin, </a:t>
            </a:r>
            <a:r>
              <a:rPr lang="de-DE" b="0" i="0" u="none" strike="noStrike" dirty="0">
                <a:solidFill>
                  <a:srgbClr val="0645AD"/>
                </a:solidFill>
                <a:effectLst/>
                <a:latin typeface="Arial" panose="020B0604020202020204" pitchFamily="34" charset="0"/>
                <a:hlinkClick r:id="rId39" tooltip="John Presper Eckert"/>
              </a:rPr>
              <a:t>John </a:t>
            </a:r>
            <a:r>
              <a:rPr lang="de-DE" b="0" i="0" u="none" strike="noStrike" dirty="0" err="1">
                <a:solidFill>
                  <a:srgbClr val="0645AD"/>
                </a:solidFill>
                <a:effectLst/>
                <a:latin typeface="Arial" panose="020B0604020202020204" pitchFamily="34" charset="0"/>
                <a:hlinkClick r:id="rId39" tooltip="John Presper Eckert"/>
              </a:rPr>
              <a:t>Presper</a:t>
            </a:r>
            <a:r>
              <a:rPr lang="de-DE" b="0" i="0" u="none" strike="noStrike" dirty="0">
                <a:solidFill>
                  <a:srgbClr val="0645AD"/>
                </a:solidFill>
                <a:effectLst/>
                <a:latin typeface="Arial" panose="020B0604020202020204" pitchFamily="34" charset="0"/>
                <a:hlinkClick r:id="rId39" tooltip="John Presper Eckert"/>
              </a:rPr>
              <a:t> Eckert</a:t>
            </a:r>
            <a:r>
              <a:rPr lang="de-DE" b="0" i="0" dirty="0">
                <a:solidFill>
                  <a:srgbClr val="202122"/>
                </a:solidFill>
                <a:effectLst/>
                <a:latin typeface="Arial" panose="020B0604020202020204" pitchFamily="34" charset="0"/>
              </a:rPr>
              <a:t> und </a:t>
            </a:r>
            <a:r>
              <a:rPr lang="de-DE" b="0" i="0" u="none" strike="noStrike" dirty="0">
                <a:solidFill>
                  <a:srgbClr val="0645AD"/>
                </a:solidFill>
                <a:effectLst/>
                <a:latin typeface="Arial" panose="020B0604020202020204" pitchFamily="34" charset="0"/>
                <a:hlinkClick r:id="rId40" tooltip="John William Mauchly"/>
              </a:rPr>
              <a:t>John William </a:t>
            </a:r>
            <a:r>
              <a:rPr lang="de-DE" b="0" i="0" u="none" strike="noStrike" dirty="0" err="1">
                <a:solidFill>
                  <a:srgbClr val="0645AD"/>
                </a:solidFill>
                <a:effectLst/>
                <a:latin typeface="Arial" panose="020B0604020202020204" pitchFamily="34" charset="0"/>
                <a:hlinkClick r:id="rId40" tooltip="John William Mauchly"/>
              </a:rPr>
              <a:t>Mauchly</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41" tooltip="ENIAC"/>
              </a:rPr>
              <a:t>ENIAC</a:t>
            </a:r>
            <a:r>
              <a:rPr lang="de-DE" b="0" i="0" dirty="0">
                <a:solidFill>
                  <a:srgbClr val="202122"/>
                </a:solidFill>
                <a:effectLst/>
                <a:latin typeface="Arial" panose="020B0604020202020204" pitchFamily="34" charset="0"/>
              </a:rPr>
              <a:t>, 1946) bauten die ersten funktionstüchtigen Geräte dieser Art. Bei der Klassifizierung eines Geräts als </a:t>
            </a:r>
            <a:r>
              <a:rPr lang="de-DE" b="0" i="1" dirty="0">
                <a:solidFill>
                  <a:srgbClr val="202122"/>
                </a:solidFill>
                <a:effectLst/>
                <a:latin typeface="Arial" panose="020B0604020202020204" pitchFamily="34" charset="0"/>
              </a:rPr>
              <a:t>universell programmierbarer Computer</a:t>
            </a:r>
            <a:r>
              <a:rPr lang="de-DE" b="0" i="0" dirty="0">
                <a:solidFill>
                  <a:srgbClr val="202122"/>
                </a:solidFill>
                <a:effectLst/>
                <a:latin typeface="Arial" panose="020B0604020202020204" pitchFamily="34" charset="0"/>
              </a:rPr>
              <a:t> spielt die </a:t>
            </a:r>
            <a:r>
              <a:rPr lang="de-DE" b="0" i="0" u="none" strike="noStrike" dirty="0">
                <a:solidFill>
                  <a:srgbClr val="0645AD"/>
                </a:solidFill>
                <a:effectLst/>
                <a:latin typeface="Arial" panose="020B0604020202020204" pitchFamily="34" charset="0"/>
                <a:hlinkClick r:id="rId42" tooltip="Turing-Vollständigkeit"/>
              </a:rPr>
              <a:t>Turing-Vollständigkeit</a:t>
            </a:r>
            <a:r>
              <a:rPr lang="de-DE" b="0" i="0" dirty="0">
                <a:solidFill>
                  <a:srgbClr val="202122"/>
                </a:solidFill>
                <a:effectLst/>
                <a:latin typeface="Arial" panose="020B0604020202020204" pitchFamily="34" charset="0"/>
              </a:rPr>
              <a:t> eine wesentliche Rolle. Sie ist benannt nach dem englischen Mathematiker </a:t>
            </a:r>
            <a:r>
              <a:rPr lang="de-DE" b="0" i="0" u="none" strike="noStrike" dirty="0">
                <a:solidFill>
                  <a:srgbClr val="0645AD"/>
                </a:solidFill>
                <a:effectLst/>
                <a:latin typeface="Arial" panose="020B0604020202020204" pitchFamily="34" charset="0"/>
                <a:hlinkClick r:id="rId43" tooltip="Alan Turing"/>
              </a:rPr>
              <a:t>Alan Turing</a:t>
            </a:r>
            <a:r>
              <a:rPr lang="de-DE" b="0" i="0" dirty="0">
                <a:solidFill>
                  <a:srgbClr val="202122"/>
                </a:solidFill>
                <a:effectLst/>
                <a:latin typeface="Arial" panose="020B0604020202020204" pitchFamily="34" charset="0"/>
              </a:rPr>
              <a:t>, der 1936 das logische Modell der </a:t>
            </a:r>
            <a:r>
              <a:rPr lang="de-DE" b="0" i="0" u="none" strike="noStrike" dirty="0">
                <a:solidFill>
                  <a:srgbClr val="0645AD"/>
                </a:solidFill>
                <a:effectLst/>
                <a:latin typeface="Arial" panose="020B0604020202020204" pitchFamily="34" charset="0"/>
                <a:hlinkClick r:id="rId44" tooltip="Turingmaschine"/>
              </a:rPr>
              <a:t>Turingmaschine</a:t>
            </a:r>
            <a:r>
              <a:rPr lang="de-DE" b="0" i="0" dirty="0">
                <a:solidFill>
                  <a:srgbClr val="202122"/>
                </a:solidFill>
                <a:effectLst/>
                <a:latin typeface="Arial" panose="020B0604020202020204" pitchFamily="34" charset="0"/>
              </a:rPr>
              <a:t> eingeführt hatte.</a:t>
            </a:r>
            <a:r>
              <a:rPr lang="de-DE" b="0" i="0" u="none" strike="noStrike" baseline="30000" dirty="0">
                <a:solidFill>
                  <a:srgbClr val="0645AD"/>
                </a:solidFill>
                <a:effectLst/>
                <a:latin typeface="Arial" panose="020B0604020202020204" pitchFamily="34" charset="0"/>
                <a:hlinkClick r:id="rId45"/>
              </a:rPr>
              <a:t>[1]</a:t>
            </a:r>
            <a:r>
              <a:rPr lang="de-DE" b="0" i="0" u="none" strike="noStrike" baseline="30000" dirty="0">
                <a:solidFill>
                  <a:srgbClr val="0645AD"/>
                </a:solidFill>
                <a:effectLst/>
                <a:latin typeface="Arial" panose="020B0604020202020204" pitchFamily="34" charset="0"/>
                <a:hlinkClick r:id="rId46"/>
              </a:rPr>
              <a:t>[2]</a:t>
            </a:r>
            <a:endParaRPr lang="de-DE" b="0" i="0" dirty="0">
              <a:solidFill>
                <a:srgbClr val="202122"/>
              </a:solidFill>
              <a:effectLst/>
              <a:latin typeface="Arial" panose="020B0604020202020204" pitchFamily="34" charset="0"/>
            </a:endParaRPr>
          </a:p>
          <a:p>
            <a:pPr algn="l"/>
            <a:r>
              <a:rPr lang="de-DE" b="0" i="0" dirty="0">
                <a:solidFill>
                  <a:srgbClr val="202122"/>
                </a:solidFill>
                <a:effectLst/>
                <a:latin typeface="Arial" panose="020B0604020202020204" pitchFamily="34" charset="0"/>
              </a:rPr>
              <a:t>Die frühen Computer wurden auch (Groß-)Rechner genannt; ihre Ein- und Ausgabe der Daten war zunächst auf Zahlen beschränkt. Zwar verstehen sich moderne Computer auf den Umgang mit weiteren Daten, beispielsweise mit Buchstaben und Tönen. Diese Daten werden jedoch innerhalb des Computers in Zahlen umgewandelt und als solche verarbeitet, weshalb ein Computer auch heute eine Rechenmaschine ist.</a:t>
            </a:r>
          </a:p>
          <a:p>
            <a:pPr algn="l"/>
            <a:r>
              <a:rPr lang="de-DE" b="0" i="0" dirty="0">
                <a:solidFill>
                  <a:srgbClr val="202122"/>
                </a:solidFill>
                <a:effectLst/>
                <a:latin typeface="Arial" panose="020B0604020202020204" pitchFamily="34" charset="0"/>
              </a:rPr>
              <a:t>Mit zunehmender Leistungsfähigkeit eröffneten sich neue Einsatzbereiche. Computer sind heute in allen Bereichen des täglichen Lebens vorzufinden, meistens in spezialisierten Varianten, die auf einen vorliegenden Anwendungszweck zugeschnitten sind. So dienen integrierte Kleinstcomputer (</a:t>
            </a:r>
            <a:r>
              <a:rPr lang="de-DE" b="0" i="0" u="none" strike="noStrike" dirty="0">
                <a:solidFill>
                  <a:srgbClr val="0645AD"/>
                </a:solidFill>
                <a:effectLst/>
                <a:latin typeface="Arial" panose="020B0604020202020204" pitchFamily="34" charset="0"/>
                <a:hlinkClick r:id="rId47" tooltip="Eingebettetes System"/>
              </a:rPr>
              <a:t>eingebettetes System</a:t>
            </a:r>
            <a:r>
              <a:rPr lang="de-DE" b="0" i="0" dirty="0">
                <a:solidFill>
                  <a:srgbClr val="202122"/>
                </a:solidFill>
                <a:effectLst/>
                <a:latin typeface="Arial" panose="020B0604020202020204" pitchFamily="34" charset="0"/>
              </a:rPr>
              <a:t>) zur Steuerung von Alltagsgeräten wie </a:t>
            </a:r>
            <a:r>
              <a:rPr lang="de-DE" b="0" i="0" u="none" strike="noStrike" dirty="0">
                <a:solidFill>
                  <a:srgbClr val="0645AD"/>
                </a:solidFill>
                <a:effectLst/>
                <a:latin typeface="Arial" panose="020B0604020202020204" pitchFamily="34" charset="0"/>
                <a:hlinkClick r:id="rId48" tooltip="Waschmaschine"/>
              </a:rPr>
              <a:t>Waschmaschinen</a:t>
            </a:r>
            <a:r>
              <a:rPr lang="de-DE" b="0" i="0" dirty="0">
                <a:solidFill>
                  <a:srgbClr val="202122"/>
                </a:solidFill>
                <a:effectLst/>
                <a:latin typeface="Arial" panose="020B0604020202020204" pitchFamily="34" charset="0"/>
              </a:rPr>
              <a:t> und </a:t>
            </a:r>
            <a:r>
              <a:rPr lang="de-DE" b="0" i="0" u="none" strike="noStrike" dirty="0">
                <a:solidFill>
                  <a:srgbClr val="0645AD"/>
                </a:solidFill>
                <a:effectLst/>
                <a:latin typeface="Arial" panose="020B0604020202020204" pitchFamily="34" charset="0"/>
                <a:hlinkClick r:id="rId49" tooltip="Videorekorder"/>
              </a:rPr>
              <a:t>Videorekordern</a:t>
            </a:r>
            <a:r>
              <a:rPr lang="de-DE" b="0" i="0" dirty="0">
                <a:solidFill>
                  <a:srgbClr val="202122"/>
                </a:solidFill>
                <a:effectLst/>
                <a:latin typeface="Arial" panose="020B0604020202020204" pitchFamily="34" charset="0"/>
              </a:rPr>
              <a:t> oder zur Münzprüfung in Warenautomaten; in modernen </a:t>
            </a:r>
            <a:r>
              <a:rPr lang="de-DE" b="0" i="0" u="none" strike="noStrike" dirty="0">
                <a:solidFill>
                  <a:srgbClr val="0645AD"/>
                </a:solidFill>
                <a:effectLst/>
                <a:latin typeface="Arial" panose="020B0604020202020204" pitchFamily="34" charset="0"/>
                <a:hlinkClick r:id="rId50" tooltip="Automobil"/>
              </a:rPr>
              <a:t>Automobilen</a:t>
            </a:r>
            <a:r>
              <a:rPr lang="de-DE" b="0" i="0" dirty="0">
                <a:solidFill>
                  <a:srgbClr val="202122"/>
                </a:solidFill>
                <a:effectLst/>
                <a:latin typeface="Arial" panose="020B0604020202020204" pitchFamily="34" charset="0"/>
              </a:rPr>
              <a:t> dienen sie beispielsweise zur Anzeige von Fahrdaten und steuern in „Fahrassistenten“ diverse Manöver selbst.</a:t>
            </a:r>
          </a:p>
          <a:p>
            <a:pPr algn="l"/>
            <a:r>
              <a:rPr lang="de-DE" b="0" i="0" dirty="0">
                <a:solidFill>
                  <a:srgbClr val="202122"/>
                </a:solidFill>
                <a:effectLst/>
                <a:latin typeface="Arial" panose="020B0604020202020204" pitchFamily="34" charset="0"/>
              </a:rPr>
              <a:t>Universelle Computer finden sich in </a:t>
            </a:r>
            <a:r>
              <a:rPr lang="de-DE" b="0" i="0" u="none" strike="noStrike" dirty="0">
                <a:solidFill>
                  <a:srgbClr val="0645AD"/>
                </a:solidFill>
                <a:effectLst/>
                <a:latin typeface="Arial" panose="020B0604020202020204" pitchFamily="34" charset="0"/>
                <a:hlinkClick r:id="rId51" tooltip="Smartphone"/>
              </a:rPr>
              <a:t>Smartphones</a:t>
            </a:r>
            <a:r>
              <a:rPr lang="de-DE" b="0" i="0" dirty="0">
                <a:solidFill>
                  <a:srgbClr val="202122"/>
                </a:solidFill>
                <a:effectLst/>
                <a:latin typeface="Arial" panose="020B0604020202020204" pitchFamily="34" charset="0"/>
              </a:rPr>
              <a:t> und </a:t>
            </a:r>
            <a:r>
              <a:rPr lang="de-DE" b="0" i="0" u="none" strike="noStrike" dirty="0">
                <a:solidFill>
                  <a:srgbClr val="0645AD"/>
                </a:solidFill>
                <a:effectLst/>
                <a:latin typeface="Arial" panose="020B0604020202020204" pitchFamily="34" charset="0"/>
                <a:hlinkClick r:id="rId52" tooltip="Spielkonsole"/>
              </a:rPr>
              <a:t>Spielkonsolen</a:t>
            </a:r>
            <a:r>
              <a:rPr lang="de-DE" b="0" i="0" dirty="0">
                <a:solidFill>
                  <a:srgbClr val="202122"/>
                </a:solidFill>
                <a:effectLst/>
                <a:latin typeface="Arial" panose="020B0604020202020204" pitchFamily="34" charset="0"/>
              </a:rPr>
              <a:t>. </a:t>
            </a:r>
            <a:r>
              <a:rPr lang="de-DE" b="0" i="0" u="none" strike="noStrike" dirty="0">
                <a:solidFill>
                  <a:srgbClr val="0645AD"/>
                </a:solidFill>
                <a:effectLst/>
                <a:latin typeface="Arial" panose="020B0604020202020204" pitchFamily="34" charset="0"/>
                <a:hlinkClick r:id="rId53" tooltip="Personal Computer"/>
              </a:rPr>
              <a:t>Personal Computer</a:t>
            </a:r>
            <a:r>
              <a:rPr lang="de-DE" b="0" i="0" dirty="0">
                <a:solidFill>
                  <a:srgbClr val="202122"/>
                </a:solidFill>
                <a:effectLst/>
                <a:latin typeface="Arial" panose="020B0604020202020204" pitchFamily="34" charset="0"/>
              </a:rPr>
              <a:t> (engl. für persönliche Computer, als Gegensatz zu von vielen genutzten Großrechnern) dienen der Informationsverarbeitung in Wirtschaft und Behörden sowie bei Privatpersonen; </a:t>
            </a:r>
            <a:r>
              <a:rPr lang="de-DE" b="0" i="0" u="none" strike="noStrike" dirty="0">
                <a:solidFill>
                  <a:srgbClr val="0645AD"/>
                </a:solidFill>
                <a:effectLst/>
                <a:latin typeface="Arial" panose="020B0604020202020204" pitchFamily="34" charset="0"/>
                <a:hlinkClick r:id="rId54" tooltip="Supercomputer"/>
              </a:rPr>
              <a:t>Supercomputer</a:t>
            </a:r>
            <a:r>
              <a:rPr lang="de-DE" b="0" i="0" dirty="0">
                <a:solidFill>
                  <a:srgbClr val="202122"/>
                </a:solidFill>
                <a:effectLst/>
                <a:latin typeface="Arial" panose="020B0604020202020204" pitchFamily="34" charset="0"/>
              </a:rPr>
              <a:t> werden eingesetzt, um komplexe Vorgänge zu simulieren, z. B. in der </a:t>
            </a:r>
            <a:r>
              <a:rPr lang="de-DE" b="0" i="0" u="none" strike="noStrike" dirty="0">
                <a:solidFill>
                  <a:srgbClr val="0645AD"/>
                </a:solidFill>
                <a:effectLst/>
                <a:latin typeface="Arial" panose="020B0604020202020204" pitchFamily="34" charset="0"/>
                <a:hlinkClick r:id="rId55" tooltip="Klimatologie"/>
              </a:rPr>
              <a:t>Klimaforschung</a:t>
            </a:r>
            <a:r>
              <a:rPr lang="de-DE" b="0" i="0" dirty="0">
                <a:solidFill>
                  <a:srgbClr val="202122"/>
                </a:solidFill>
                <a:effectLst/>
                <a:latin typeface="Arial" panose="020B0604020202020204" pitchFamily="34" charset="0"/>
              </a:rPr>
              <a:t> oder für medizinische Berechnungen.“ - https://de.wikipedia.org/wiki/Computer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5"/>
          </p:nvPr>
        </p:nvSpPr>
        <p:spPr/>
        <p:txBody>
          <a:bodyPr/>
          <a:lstStyle/>
          <a:p>
            <a:fld id="{1411D4AD-2E28-4105-93D1-6A9927115D81}" type="slidenum">
              <a:rPr lang="de-DE" smtClean="0"/>
              <a:t>5</a:t>
            </a:fld>
            <a:endParaRPr lang="de-DE"/>
          </a:p>
        </p:txBody>
      </p:sp>
    </p:spTree>
    <p:extLst>
      <p:ext uri="{BB962C8B-B14F-4D97-AF65-F5344CB8AC3E}">
        <p14:creationId xmlns:p14="http://schemas.microsoft.com/office/powerpoint/2010/main" val="1128538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5"/>
          </p:nvPr>
        </p:nvSpPr>
        <p:spPr/>
        <p:txBody>
          <a:bodyPr/>
          <a:lstStyle/>
          <a:p>
            <a:fld id="{1411D4AD-2E28-4105-93D1-6A9927115D81}" type="slidenum">
              <a:rPr lang="de-DE" smtClean="0"/>
              <a:t>6</a:t>
            </a:fld>
            <a:endParaRPr lang="de-DE"/>
          </a:p>
        </p:txBody>
      </p:sp>
    </p:spTree>
    <p:extLst>
      <p:ext uri="{BB962C8B-B14F-4D97-AF65-F5344CB8AC3E}">
        <p14:creationId xmlns:p14="http://schemas.microsoft.com/office/powerpoint/2010/main" val="1496554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https://de.wikipedia.org/wiki/Bit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https://www.ionos.com/digitalguide/websites/web-development/what-is-a-bit/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https://www.uni-frankfurt.de/63288571/vorlesung.pdf</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https://de.wikipedia.org/wiki/Dualsystem</a:t>
            </a:r>
          </a:p>
        </p:txBody>
      </p:sp>
      <p:sp>
        <p:nvSpPr>
          <p:cNvPr id="4" name="Foliennummernplatzhalter 3"/>
          <p:cNvSpPr>
            <a:spLocks noGrp="1"/>
          </p:cNvSpPr>
          <p:nvPr>
            <p:ph type="sldNum" sz="quarter" idx="5"/>
          </p:nvPr>
        </p:nvSpPr>
        <p:spPr/>
        <p:txBody>
          <a:bodyPr/>
          <a:lstStyle/>
          <a:p>
            <a:fld id="{1411D4AD-2E28-4105-93D1-6A9927115D81}" type="slidenum">
              <a:rPr lang="de-DE" smtClean="0"/>
              <a:t>7</a:t>
            </a:fld>
            <a:endParaRPr lang="de-DE"/>
          </a:p>
        </p:txBody>
      </p:sp>
    </p:spTree>
    <p:extLst>
      <p:ext uri="{BB962C8B-B14F-4D97-AF65-F5344CB8AC3E}">
        <p14:creationId xmlns:p14="http://schemas.microsoft.com/office/powerpoint/2010/main" val="3471890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https://www.ionos.com/digitalguide/websites/web-development/what-is-a-bit/</a:t>
            </a:r>
          </a:p>
        </p:txBody>
      </p:sp>
      <p:sp>
        <p:nvSpPr>
          <p:cNvPr id="4" name="Foliennummernplatzhalter 3"/>
          <p:cNvSpPr>
            <a:spLocks noGrp="1"/>
          </p:cNvSpPr>
          <p:nvPr>
            <p:ph type="sldNum" sz="quarter" idx="5"/>
          </p:nvPr>
        </p:nvSpPr>
        <p:spPr/>
        <p:txBody>
          <a:bodyPr/>
          <a:lstStyle/>
          <a:p>
            <a:fld id="{1411D4AD-2E28-4105-93D1-6A9927115D81}" type="slidenum">
              <a:rPr lang="de-DE" smtClean="0"/>
              <a:t>8</a:t>
            </a:fld>
            <a:endParaRPr lang="de-DE"/>
          </a:p>
        </p:txBody>
      </p:sp>
    </p:spTree>
    <p:extLst>
      <p:ext uri="{BB962C8B-B14F-4D97-AF65-F5344CB8AC3E}">
        <p14:creationId xmlns:p14="http://schemas.microsoft.com/office/powerpoint/2010/main" val="2746364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https://de.wikipedia.org/wiki/Algorithmus</a:t>
            </a:r>
          </a:p>
        </p:txBody>
      </p:sp>
      <p:sp>
        <p:nvSpPr>
          <p:cNvPr id="4" name="Foliennummernplatzhalter 3"/>
          <p:cNvSpPr>
            <a:spLocks noGrp="1"/>
          </p:cNvSpPr>
          <p:nvPr>
            <p:ph type="sldNum" sz="quarter" idx="5"/>
          </p:nvPr>
        </p:nvSpPr>
        <p:spPr/>
        <p:txBody>
          <a:bodyPr/>
          <a:lstStyle/>
          <a:p>
            <a:fld id="{1411D4AD-2E28-4105-93D1-6A9927115D81}" type="slidenum">
              <a:rPr lang="de-DE" smtClean="0"/>
              <a:t>9</a:t>
            </a:fld>
            <a:endParaRPr lang="de-DE"/>
          </a:p>
        </p:txBody>
      </p:sp>
    </p:spTree>
    <p:extLst>
      <p:ext uri="{BB962C8B-B14F-4D97-AF65-F5344CB8AC3E}">
        <p14:creationId xmlns:p14="http://schemas.microsoft.com/office/powerpoint/2010/main" val="3287969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https://de.wikipedia.org/wiki/Turingmaschine</a:t>
            </a:r>
          </a:p>
        </p:txBody>
      </p:sp>
      <p:sp>
        <p:nvSpPr>
          <p:cNvPr id="4" name="Foliennummernplatzhalter 3"/>
          <p:cNvSpPr>
            <a:spLocks noGrp="1"/>
          </p:cNvSpPr>
          <p:nvPr>
            <p:ph type="sldNum" sz="quarter" idx="5"/>
          </p:nvPr>
        </p:nvSpPr>
        <p:spPr/>
        <p:txBody>
          <a:bodyPr/>
          <a:lstStyle/>
          <a:p>
            <a:fld id="{1411D4AD-2E28-4105-93D1-6A9927115D81}" type="slidenum">
              <a:rPr lang="de-DE" smtClean="0"/>
              <a:t>10</a:t>
            </a:fld>
            <a:endParaRPr lang="de-DE"/>
          </a:p>
        </p:txBody>
      </p:sp>
    </p:spTree>
    <p:extLst>
      <p:ext uri="{BB962C8B-B14F-4D97-AF65-F5344CB8AC3E}">
        <p14:creationId xmlns:p14="http://schemas.microsoft.com/office/powerpoint/2010/main" val="2275373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https://de.wikipedia.org/wiki/Turingmaschine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dirty="0"/>
          </a:p>
        </p:txBody>
      </p:sp>
      <p:sp>
        <p:nvSpPr>
          <p:cNvPr id="4" name="Foliennummernplatzhalter 3"/>
          <p:cNvSpPr>
            <a:spLocks noGrp="1"/>
          </p:cNvSpPr>
          <p:nvPr>
            <p:ph type="sldNum" sz="quarter" idx="5"/>
          </p:nvPr>
        </p:nvSpPr>
        <p:spPr/>
        <p:txBody>
          <a:bodyPr/>
          <a:lstStyle/>
          <a:p>
            <a:fld id="{1411D4AD-2E28-4105-93D1-6A9927115D81}" type="slidenum">
              <a:rPr lang="de-DE" smtClean="0"/>
              <a:t>11</a:t>
            </a:fld>
            <a:endParaRPr lang="de-DE"/>
          </a:p>
        </p:txBody>
      </p:sp>
    </p:spTree>
    <p:extLst>
      <p:ext uri="{BB962C8B-B14F-4D97-AF65-F5344CB8AC3E}">
        <p14:creationId xmlns:p14="http://schemas.microsoft.com/office/powerpoint/2010/main" val="3163388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https://de.wikipedia.org/wiki/Turing-Vollst%C3%A4ndigkeit</a:t>
            </a:r>
          </a:p>
        </p:txBody>
      </p:sp>
      <p:sp>
        <p:nvSpPr>
          <p:cNvPr id="4" name="Foliennummernplatzhalter 3"/>
          <p:cNvSpPr>
            <a:spLocks noGrp="1"/>
          </p:cNvSpPr>
          <p:nvPr>
            <p:ph type="sldNum" sz="quarter" idx="5"/>
          </p:nvPr>
        </p:nvSpPr>
        <p:spPr/>
        <p:txBody>
          <a:bodyPr/>
          <a:lstStyle/>
          <a:p>
            <a:fld id="{1411D4AD-2E28-4105-93D1-6A9927115D81}" type="slidenum">
              <a:rPr lang="de-DE" smtClean="0"/>
              <a:t>12</a:t>
            </a:fld>
            <a:endParaRPr lang="de-DE"/>
          </a:p>
        </p:txBody>
      </p:sp>
    </p:spTree>
    <p:extLst>
      <p:ext uri="{BB962C8B-B14F-4D97-AF65-F5344CB8AC3E}">
        <p14:creationId xmlns:p14="http://schemas.microsoft.com/office/powerpoint/2010/main" val="2240190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3F4523-4051-C8C9-69A0-B0F6B6EFC0D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D481D88A-F42F-A642-7A61-26C3F5C038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87BFFC25-836A-2096-6A29-F16D2BC58AE9}"/>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5" name="Fußzeilenplatzhalter 4">
            <a:extLst>
              <a:ext uri="{FF2B5EF4-FFF2-40B4-BE49-F238E27FC236}">
                <a16:creationId xmlns:a16="http://schemas.microsoft.com/office/drawing/2014/main" id="{7F5A338E-D3D7-8D35-A022-246F6CA9363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5B04399-21CA-5E9E-D605-913F0B1C95AF}"/>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1186902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5403FC-4537-18A0-72AB-B2B8C7BF2652}"/>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B8342A8-7F38-3B2E-E1BB-A61578199012}"/>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A4DBF5F-ECDE-3EC4-B18C-EC1F8558F6DD}"/>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5" name="Fußzeilenplatzhalter 4">
            <a:extLst>
              <a:ext uri="{FF2B5EF4-FFF2-40B4-BE49-F238E27FC236}">
                <a16:creationId xmlns:a16="http://schemas.microsoft.com/office/drawing/2014/main" id="{709E7F80-86CE-945A-223B-7EEDFD5D22D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7FF127F-9EB4-2F56-BDC9-7382861C32C5}"/>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520785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75EC6B-3CF1-D993-557B-42654340C114}"/>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6CC7DE6E-7C30-A701-ACE0-EE72B1A2EB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1AF48C5A-97D9-C5AA-FA8E-C2A4B20C0298}"/>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5" name="Fußzeilenplatzhalter 4">
            <a:extLst>
              <a:ext uri="{FF2B5EF4-FFF2-40B4-BE49-F238E27FC236}">
                <a16:creationId xmlns:a16="http://schemas.microsoft.com/office/drawing/2014/main" id="{4ADBB93F-5E5E-FCBD-EE38-9E2BC16CD55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24B2732-EFCE-9B4C-62B9-9D76EF3C3C26}"/>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369955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16C4B7-9B62-E216-DA72-D297734CC10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D6CF9BB-E9C6-77D5-6D7F-9E771C0055F3}"/>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20569A4-FC7E-0A4D-69C0-51AB112913C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0075938-47ED-5BFB-754B-15C61FD193EA}"/>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6" name="Fußzeilenplatzhalter 5">
            <a:extLst>
              <a:ext uri="{FF2B5EF4-FFF2-40B4-BE49-F238E27FC236}">
                <a16:creationId xmlns:a16="http://schemas.microsoft.com/office/drawing/2014/main" id="{8F8C6EF2-50DF-3E14-8FF7-E2B6F3F2B79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1FBF970-C428-FD88-7060-03A5B25409EA}"/>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3470356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EF3C0C-9043-18DC-1ADD-1E9773DDA15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7219B18E-2452-222C-C041-D53A27A56F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E4447E7-F590-89A4-1B59-445374C35522}"/>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BA39935-4805-7E23-D57C-43FED3899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97CEF03-94AE-A313-014B-5486A986A791}"/>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4B2EFF2F-B8D2-78E5-5D55-734A680EBB76}"/>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8" name="Fußzeilenplatzhalter 7">
            <a:extLst>
              <a:ext uri="{FF2B5EF4-FFF2-40B4-BE49-F238E27FC236}">
                <a16:creationId xmlns:a16="http://schemas.microsoft.com/office/drawing/2014/main" id="{7F094056-24EF-0D9E-6F1A-79B80C423EAE}"/>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8A022975-1CA9-5539-FCB4-FD8BFCC258A6}"/>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272353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210818-6768-835B-C316-9B5BFF7ED379}"/>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B0B5CDA7-3BBF-EEFE-23D6-E1C3F518CBC6}"/>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4" name="Fußzeilenplatzhalter 3">
            <a:extLst>
              <a:ext uri="{FF2B5EF4-FFF2-40B4-BE49-F238E27FC236}">
                <a16:creationId xmlns:a16="http://schemas.microsoft.com/office/drawing/2014/main" id="{ACD7DE96-1C0D-AD03-7BEC-9D42A8F1B294}"/>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A6AB10F-DA47-78DA-F6DA-504E9B663D00}"/>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1815084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0B56FC9-42BF-9F4D-EBEB-C0DD282C4408}"/>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3" name="Fußzeilenplatzhalter 2">
            <a:extLst>
              <a:ext uri="{FF2B5EF4-FFF2-40B4-BE49-F238E27FC236}">
                <a16:creationId xmlns:a16="http://schemas.microsoft.com/office/drawing/2014/main" id="{239253D4-6E74-CF94-EA4D-D482F8183CC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A6C2647-158B-6A4D-8D2F-BC997BD791D7}"/>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169221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CBD0DB-6845-E7AC-0B9D-1B7C6AD6777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68470EFE-4625-39E1-BC5B-680D9232B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9DFF202A-22B1-BFEF-18D2-1856B46B1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14D4222-DE54-A623-E6EC-F55E3A856D53}"/>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6" name="Fußzeilenplatzhalter 5">
            <a:extLst>
              <a:ext uri="{FF2B5EF4-FFF2-40B4-BE49-F238E27FC236}">
                <a16:creationId xmlns:a16="http://schemas.microsoft.com/office/drawing/2014/main" id="{22243B3B-7CB2-14DB-EF2C-E6994584F66C}"/>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FB2013E-32B3-020B-8526-2828E80352AB}"/>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2366211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21517A-79F7-CC7B-2423-6EFBA1B5DF4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82A4AEE8-A590-7C83-56F9-AC90CD768E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7990440-30D5-94F4-92CF-0EFCB82440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7AD01E9-8C1D-1B04-3879-41FE363D085D}"/>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6" name="Fußzeilenplatzhalter 5">
            <a:extLst>
              <a:ext uri="{FF2B5EF4-FFF2-40B4-BE49-F238E27FC236}">
                <a16:creationId xmlns:a16="http://schemas.microsoft.com/office/drawing/2014/main" id="{824F6910-2B68-0887-87E9-0E349C3DC74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BC1AB2A-53CE-55B6-3FE6-93AB2871F210}"/>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3963316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CDCEF8-0EFE-0D25-AC05-0CC8557EFB5B}"/>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C3C2E2D3-C6AA-EE3C-B09D-04B07997C2A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33F3B8C-C497-51B4-9C49-71814AFA4DF1}"/>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5" name="Fußzeilenplatzhalter 4">
            <a:extLst>
              <a:ext uri="{FF2B5EF4-FFF2-40B4-BE49-F238E27FC236}">
                <a16:creationId xmlns:a16="http://schemas.microsoft.com/office/drawing/2014/main" id="{27CB2482-41AE-0FB0-5F79-F4CFDA978D2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809D02A-32AD-638C-F38B-5CBC02DF8B51}"/>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2665000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9C3223C-F8B7-B5B8-4133-531995E2CCD6}"/>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C3791CED-342B-78FB-975F-7C9D5AB5189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0E9818C-8BE5-FBA9-F383-74149FB49F5F}"/>
              </a:ext>
            </a:extLst>
          </p:cNvPr>
          <p:cNvSpPr>
            <a:spLocks noGrp="1"/>
          </p:cNvSpPr>
          <p:nvPr>
            <p:ph type="dt" sz="half" idx="10"/>
          </p:nvPr>
        </p:nvSpPr>
        <p:spPr/>
        <p:txBody>
          <a:bodyPr/>
          <a:lstStyle/>
          <a:p>
            <a:fld id="{E3E65B66-1ECE-458D-AB52-7A0CC95DDD0B}" type="datetimeFigureOut">
              <a:rPr lang="de-DE" smtClean="0"/>
              <a:t>15.05.2023</a:t>
            </a:fld>
            <a:endParaRPr lang="de-DE"/>
          </a:p>
        </p:txBody>
      </p:sp>
      <p:sp>
        <p:nvSpPr>
          <p:cNvPr id="5" name="Fußzeilenplatzhalter 4">
            <a:extLst>
              <a:ext uri="{FF2B5EF4-FFF2-40B4-BE49-F238E27FC236}">
                <a16:creationId xmlns:a16="http://schemas.microsoft.com/office/drawing/2014/main" id="{D907CF7D-F3D4-32FD-3865-D6089A29231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44654E6-585D-79B5-5750-335073C6B6C5}"/>
              </a:ext>
            </a:extLst>
          </p:cNvPr>
          <p:cNvSpPr>
            <a:spLocks noGrp="1"/>
          </p:cNvSpPr>
          <p:nvPr>
            <p:ph type="sldNum" sz="quarter" idx="12"/>
          </p:nvPr>
        </p:nvSpPr>
        <p:spPr/>
        <p:txBody>
          <a:bodyPr/>
          <a:lstStyle/>
          <a:p>
            <a:fld id="{A83E2DB1-9313-4A18-8EEC-3007CBB9927D}" type="slidenum">
              <a:rPr lang="de-DE" smtClean="0"/>
              <a:t>‹Nr.›</a:t>
            </a:fld>
            <a:endParaRPr lang="de-DE"/>
          </a:p>
        </p:txBody>
      </p:sp>
    </p:spTree>
    <p:extLst>
      <p:ext uri="{BB962C8B-B14F-4D97-AF65-F5344CB8AC3E}">
        <p14:creationId xmlns:p14="http://schemas.microsoft.com/office/powerpoint/2010/main" val="769614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53D26D7-A3C7-BF95-B52B-EC12F29B63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3F0BF153-A142-8745-FE12-8C366B32CB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C0E8DED-525D-D720-8A88-384C34E60E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65B66-1ECE-458D-AB52-7A0CC95DDD0B}" type="datetimeFigureOut">
              <a:rPr lang="de-DE" smtClean="0"/>
              <a:t>15.05.2023</a:t>
            </a:fld>
            <a:endParaRPr lang="de-DE"/>
          </a:p>
        </p:txBody>
      </p:sp>
      <p:sp>
        <p:nvSpPr>
          <p:cNvPr id="5" name="Fußzeilenplatzhalter 4">
            <a:extLst>
              <a:ext uri="{FF2B5EF4-FFF2-40B4-BE49-F238E27FC236}">
                <a16:creationId xmlns:a16="http://schemas.microsoft.com/office/drawing/2014/main" id="{D0AAFA6D-C81A-BBED-CA51-CB52508BC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411ACA50-5FD1-F896-24A1-EC9D3191E3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E2DB1-9313-4A18-8EEC-3007CBB9927D}" type="slidenum">
              <a:rPr lang="de-DE" smtClean="0"/>
              <a:t>‹Nr.›</a:t>
            </a:fld>
            <a:endParaRPr lang="de-DE"/>
          </a:p>
        </p:txBody>
      </p:sp>
    </p:spTree>
    <p:extLst>
      <p:ext uri="{BB962C8B-B14F-4D97-AF65-F5344CB8AC3E}">
        <p14:creationId xmlns:p14="http://schemas.microsoft.com/office/powerpoint/2010/main" val="505386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e.wikipedia.org/wiki/Hardware"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4.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6DB6C4-2D60-E0DB-F886-229748CEB1FE}"/>
              </a:ext>
            </a:extLst>
          </p:cNvPr>
          <p:cNvSpPr>
            <a:spLocks noGrp="1"/>
          </p:cNvSpPr>
          <p:nvPr>
            <p:ph type="ctrTitle"/>
          </p:nvPr>
        </p:nvSpPr>
        <p:spPr/>
        <p:txBody>
          <a:bodyPr/>
          <a:lstStyle/>
          <a:p>
            <a:r>
              <a:rPr lang="de-DE" dirty="0"/>
              <a:t>Einführung in die Welt der Blockchains</a:t>
            </a:r>
          </a:p>
        </p:txBody>
      </p:sp>
      <p:sp>
        <p:nvSpPr>
          <p:cNvPr id="3" name="Untertitel 2">
            <a:extLst>
              <a:ext uri="{FF2B5EF4-FFF2-40B4-BE49-F238E27FC236}">
                <a16:creationId xmlns:a16="http://schemas.microsoft.com/office/drawing/2014/main" id="{EF459AE5-01E7-7905-F17A-08DFB7984FD6}"/>
              </a:ext>
            </a:extLst>
          </p:cNvPr>
          <p:cNvSpPr>
            <a:spLocks noGrp="1"/>
          </p:cNvSpPr>
          <p:nvPr>
            <p:ph type="subTitle" idx="1"/>
          </p:nvPr>
        </p:nvSpPr>
        <p:spPr/>
        <p:txBody>
          <a:bodyPr/>
          <a:lstStyle/>
          <a:p>
            <a:r>
              <a:rPr lang="de-DE" dirty="0"/>
              <a:t>Das Internet von Gestern, Heute und Morgen</a:t>
            </a:r>
          </a:p>
        </p:txBody>
      </p:sp>
    </p:spTree>
    <p:extLst>
      <p:ext uri="{BB962C8B-B14F-4D97-AF65-F5344CB8AC3E}">
        <p14:creationId xmlns:p14="http://schemas.microsoft.com/office/powerpoint/2010/main" val="31654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6AC15A-0FDB-2218-1AF6-613A670F4FFD}"/>
              </a:ext>
            </a:extLst>
          </p:cNvPr>
          <p:cNvSpPr>
            <a:spLocks noGrp="1"/>
          </p:cNvSpPr>
          <p:nvPr>
            <p:ph type="title"/>
          </p:nvPr>
        </p:nvSpPr>
        <p:spPr/>
        <p:txBody>
          <a:bodyPr/>
          <a:lstStyle/>
          <a:p>
            <a:r>
              <a:rPr lang="de-DE" dirty="0"/>
              <a:t>Workshopübersicht</a:t>
            </a:r>
          </a:p>
        </p:txBody>
      </p:sp>
      <p:sp>
        <p:nvSpPr>
          <p:cNvPr id="3" name="Inhaltsplatzhalter 2">
            <a:extLst>
              <a:ext uri="{FF2B5EF4-FFF2-40B4-BE49-F238E27FC236}">
                <a16:creationId xmlns:a16="http://schemas.microsoft.com/office/drawing/2014/main" id="{B964D2EB-7E79-0C71-D249-CBFDAC8549D4}"/>
              </a:ext>
            </a:extLst>
          </p:cNvPr>
          <p:cNvSpPr>
            <a:spLocks noGrp="1"/>
          </p:cNvSpPr>
          <p:nvPr>
            <p:ph idx="1"/>
          </p:nvPr>
        </p:nvSpPr>
        <p:spPr/>
        <p:txBody>
          <a:bodyPr/>
          <a:lstStyle/>
          <a:p>
            <a:r>
              <a:rPr lang="de-DE" dirty="0"/>
              <a:t>Informationstechnologie – Die Welt der Nullen und Einsen</a:t>
            </a:r>
          </a:p>
          <a:p>
            <a:pPr lvl="1"/>
            <a:r>
              <a:rPr lang="de-DE" dirty="0"/>
              <a:t>Warum Nullen und Einsen</a:t>
            </a:r>
          </a:p>
          <a:p>
            <a:pPr lvl="1"/>
            <a:r>
              <a:rPr lang="de-DE" dirty="0"/>
              <a:t>Was ist ein Algorithmus</a:t>
            </a:r>
          </a:p>
          <a:p>
            <a:r>
              <a:rPr lang="de-DE" dirty="0"/>
              <a:t>Blockchains – Die neue Welt der Datenspeicherung</a:t>
            </a:r>
          </a:p>
          <a:p>
            <a:pPr lvl="1"/>
            <a:r>
              <a:rPr lang="de-DE" dirty="0"/>
              <a:t>Aufbau der Infrastruktur</a:t>
            </a:r>
          </a:p>
          <a:p>
            <a:pPr lvl="1"/>
            <a:r>
              <a:rPr lang="de-DE" dirty="0"/>
              <a:t>Proof </a:t>
            </a:r>
            <a:r>
              <a:rPr lang="de-DE" dirty="0" err="1"/>
              <a:t>of</a:t>
            </a:r>
            <a:r>
              <a:rPr lang="de-DE" dirty="0"/>
              <a:t> Work &amp; Proof </a:t>
            </a:r>
            <a:r>
              <a:rPr lang="de-DE" dirty="0" err="1"/>
              <a:t>of</a:t>
            </a:r>
            <a:r>
              <a:rPr lang="de-DE" dirty="0"/>
              <a:t> Stake</a:t>
            </a:r>
          </a:p>
          <a:p>
            <a:r>
              <a:rPr lang="de-DE" dirty="0"/>
              <a:t>Token – Die Welt der Menschen und Computer</a:t>
            </a:r>
          </a:p>
          <a:p>
            <a:pPr lvl="1"/>
            <a:r>
              <a:rPr lang="de-DE" dirty="0"/>
              <a:t>Was ist ein Token</a:t>
            </a:r>
          </a:p>
          <a:p>
            <a:pPr lvl="1"/>
            <a:r>
              <a:rPr lang="de-DE" dirty="0"/>
              <a:t>Wie benutze ich einen Token</a:t>
            </a:r>
          </a:p>
        </p:txBody>
      </p:sp>
    </p:spTree>
    <p:extLst>
      <p:ext uri="{BB962C8B-B14F-4D97-AF65-F5344CB8AC3E}">
        <p14:creationId xmlns:p14="http://schemas.microsoft.com/office/powerpoint/2010/main" val="1039416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lstStyle/>
          <a:p>
            <a:r>
              <a:rPr lang="de-DE" dirty="0"/>
              <a:t>Informationstechnologie</a:t>
            </a:r>
            <a:br>
              <a:rPr lang="de-DE" dirty="0"/>
            </a:br>
            <a:r>
              <a:rPr lang="de-DE" sz="2200" dirty="0"/>
              <a:t>Die Welt der Nullen und Einsen</a:t>
            </a:r>
            <a:endParaRPr lang="de-DE" dirty="0"/>
          </a:p>
        </p:txBody>
      </p:sp>
      <p:sp>
        <p:nvSpPr>
          <p:cNvPr id="3" name="Inhaltsplatzhalter 2">
            <a:extLst>
              <a:ext uri="{FF2B5EF4-FFF2-40B4-BE49-F238E27FC236}">
                <a16:creationId xmlns:a16="http://schemas.microsoft.com/office/drawing/2014/main" id="{AE699434-C5DB-5EC9-3327-3A525E454EA5}"/>
              </a:ext>
            </a:extLst>
          </p:cNvPr>
          <p:cNvSpPr>
            <a:spLocks noGrp="1"/>
          </p:cNvSpPr>
          <p:nvPr>
            <p:ph idx="1"/>
          </p:nvPr>
        </p:nvSpPr>
        <p:spPr/>
        <p:txBody>
          <a:bodyPr/>
          <a:lstStyle/>
          <a:p>
            <a:pPr marL="0" indent="0">
              <a:buNone/>
            </a:pPr>
            <a:r>
              <a:rPr lang="de-DE" dirty="0"/>
              <a:t>1. Wie alles begann… Geschichtliche Einführung</a:t>
            </a:r>
          </a:p>
          <a:p>
            <a:pPr marL="0" indent="0">
              <a:buNone/>
            </a:pPr>
            <a:r>
              <a:rPr lang="de-DE" dirty="0"/>
              <a:t>2. Das Basisprinzip Bits, Bytes, Kilo..</a:t>
            </a:r>
            <a:r>
              <a:rPr lang="de-DE" dirty="0" err="1"/>
              <a:t>Mega</a:t>
            </a:r>
            <a:r>
              <a:rPr lang="de-DE" dirty="0"/>
              <a:t>..</a:t>
            </a:r>
            <a:r>
              <a:rPr lang="de-DE" dirty="0" err="1"/>
              <a:t>Giga</a:t>
            </a:r>
            <a:r>
              <a:rPr lang="de-DE" dirty="0"/>
              <a:t>…..</a:t>
            </a:r>
          </a:p>
          <a:p>
            <a:pPr marL="0" indent="0">
              <a:buNone/>
            </a:pPr>
            <a:r>
              <a:rPr lang="de-DE" dirty="0"/>
              <a:t>3. Definition eines Algorithmus und Praxisbeispiel in Python:</a:t>
            </a:r>
          </a:p>
          <a:p>
            <a:pPr lvl="1"/>
            <a:r>
              <a:rPr lang="de-DE" dirty="0" err="1"/>
              <a:t>If</a:t>
            </a:r>
            <a:r>
              <a:rPr lang="de-DE" dirty="0"/>
              <a:t>, </a:t>
            </a:r>
            <a:r>
              <a:rPr lang="de-DE" dirty="0" err="1"/>
              <a:t>else</a:t>
            </a:r>
            <a:r>
              <a:rPr lang="de-DE" dirty="0"/>
              <a:t>, </a:t>
            </a:r>
            <a:r>
              <a:rPr lang="de-DE" dirty="0" err="1"/>
              <a:t>while</a:t>
            </a:r>
            <a:r>
              <a:rPr lang="de-DE" dirty="0"/>
              <a:t>, </a:t>
            </a:r>
            <a:r>
              <a:rPr lang="de-DE" dirty="0" err="1"/>
              <a:t>for</a:t>
            </a:r>
            <a:r>
              <a:rPr lang="de-DE" dirty="0"/>
              <a:t>, </a:t>
            </a:r>
            <a:r>
              <a:rPr lang="de-DE" dirty="0" err="1"/>
              <a:t>foreach</a:t>
            </a:r>
            <a:endParaRPr lang="de-DE" dirty="0"/>
          </a:p>
          <a:p>
            <a:pPr lvl="1"/>
            <a:r>
              <a:rPr lang="de-DE" dirty="0" err="1"/>
              <a:t>Bool</a:t>
            </a:r>
            <a:r>
              <a:rPr lang="de-DE" dirty="0"/>
              <a:t>, integer, </a:t>
            </a:r>
            <a:r>
              <a:rPr lang="de-DE" dirty="0" err="1"/>
              <a:t>unsigned</a:t>
            </a:r>
            <a:r>
              <a:rPr lang="de-DE" dirty="0"/>
              <a:t> integer, Strings, Arrays, </a:t>
            </a:r>
            <a:r>
              <a:rPr lang="de-DE" dirty="0" err="1"/>
              <a:t>Dictioniary</a:t>
            </a:r>
            <a:endParaRPr lang="de-DE" dirty="0"/>
          </a:p>
        </p:txBody>
      </p:sp>
    </p:spTree>
    <p:extLst>
      <p:ext uri="{BB962C8B-B14F-4D97-AF65-F5344CB8AC3E}">
        <p14:creationId xmlns:p14="http://schemas.microsoft.com/office/powerpoint/2010/main" val="3339822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Grafik 47">
            <a:extLst>
              <a:ext uri="{FF2B5EF4-FFF2-40B4-BE49-F238E27FC236}">
                <a16:creationId xmlns:a16="http://schemas.microsoft.com/office/drawing/2014/main" id="{E04B0A94-9AF1-21AB-8E76-FEFCD4E1BD2D}"/>
              </a:ext>
            </a:extLst>
          </p:cNvPr>
          <p:cNvPicPr>
            <a:picLocks noChangeAspect="1"/>
          </p:cNvPicPr>
          <p:nvPr/>
        </p:nvPicPr>
        <p:blipFill>
          <a:blip r:embed="rId3">
            <a:alphaModFix amt="47000"/>
          </a:blip>
          <a:stretch>
            <a:fillRect/>
          </a:stretch>
        </p:blipFill>
        <p:spPr>
          <a:xfrm>
            <a:off x="9943823" y="886781"/>
            <a:ext cx="2228850" cy="5629275"/>
          </a:xfrm>
          <a:prstGeom prst="rect">
            <a:avLst/>
          </a:prstGeom>
        </p:spPr>
      </p:pic>
      <p:pic>
        <p:nvPicPr>
          <p:cNvPr id="45" name="Grafik 44">
            <a:extLst>
              <a:ext uri="{FF2B5EF4-FFF2-40B4-BE49-F238E27FC236}">
                <a16:creationId xmlns:a16="http://schemas.microsoft.com/office/drawing/2014/main" id="{BB9EB101-0F8B-7936-D803-DFC7791D946F}"/>
              </a:ext>
            </a:extLst>
          </p:cNvPr>
          <p:cNvPicPr>
            <a:picLocks noChangeAspect="1"/>
          </p:cNvPicPr>
          <p:nvPr/>
        </p:nvPicPr>
        <p:blipFill>
          <a:blip r:embed="rId4"/>
          <a:stretch>
            <a:fillRect/>
          </a:stretch>
        </p:blipFill>
        <p:spPr>
          <a:xfrm>
            <a:off x="8209284" y="1176055"/>
            <a:ext cx="2162175" cy="2752725"/>
          </a:xfrm>
          <a:prstGeom prst="rect">
            <a:avLst/>
          </a:prstGeom>
        </p:spPr>
      </p:pic>
      <p:pic>
        <p:nvPicPr>
          <p:cNvPr id="28" name="Grafik 27">
            <a:extLst>
              <a:ext uri="{FF2B5EF4-FFF2-40B4-BE49-F238E27FC236}">
                <a16:creationId xmlns:a16="http://schemas.microsoft.com/office/drawing/2014/main" id="{54170FB2-849D-60BF-D6E4-8193A1A20569}"/>
              </a:ext>
            </a:extLst>
          </p:cNvPr>
          <p:cNvPicPr>
            <a:picLocks noChangeAspect="1"/>
          </p:cNvPicPr>
          <p:nvPr/>
        </p:nvPicPr>
        <p:blipFill>
          <a:blip r:embed="rId5"/>
          <a:stretch>
            <a:fillRect/>
          </a:stretch>
        </p:blipFill>
        <p:spPr>
          <a:xfrm>
            <a:off x="216487" y="4711681"/>
            <a:ext cx="2257425" cy="2133600"/>
          </a:xfrm>
          <a:prstGeom prst="rect">
            <a:avLst/>
          </a:prstGeom>
        </p:spPr>
      </p:pic>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fontScale="90000"/>
          </a:bodyPr>
          <a:lstStyle/>
          <a:p>
            <a:r>
              <a:rPr lang="de-DE" dirty="0"/>
              <a:t>Informationstechnologie – Historische Übersicht</a:t>
            </a:r>
            <a:br>
              <a:rPr lang="de-DE" dirty="0"/>
            </a:br>
            <a:r>
              <a:rPr lang="de-DE" sz="2200" dirty="0"/>
              <a:t>Die Welt der Nullen und Einsen</a:t>
            </a:r>
            <a:endParaRPr lang="de-DE" dirty="0"/>
          </a:p>
        </p:txBody>
      </p:sp>
      <p:cxnSp>
        <p:nvCxnSpPr>
          <p:cNvPr id="10" name="Gerade Verbindung mit Pfeil 9">
            <a:extLst>
              <a:ext uri="{FF2B5EF4-FFF2-40B4-BE49-F238E27FC236}">
                <a16:creationId xmlns:a16="http://schemas.microsoft.com/office/drawing/2014/main" id="{D758B5FD-3D36-1434-59E2-8F5BD0AB8551}"/>
              </a:ext>
            </a:extLst>
          </p:cNvPr>
          <p:cNvCxnSpPr>
            <a:cxnSpLocks/>
          </p:cNvCxnSpPr>
          <p:nvPr/>
        </p:nvCxnSpPr>
        <p:spPr>
          <a:xfrm flipV="1">
            <a:off x="272563" y="3290136"/>
            <a:ext cx="11217070" cy="24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18DFE12E-3453-ADEB-3FEF-1FBB77E34B6B}"/>
              </a:ext>
            </a:extLst>
          </p:cNvPr>
          <p:cNvCxnSpPr/>
          <p:nvPr/>
        </p:nvCxnSpPr>
        <p:spPr>
          <a:xfrm>
            <a:off x="2588211" y="3325332"/>
            <a:ext cx="0" cy="1143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238644FC-2C8A-7189-CD9C-1DEB1A1BBA5B}"/>
              </a:ext>
            </a:extLst>
          </p:cNvPr>
          <p:cNvSpPr txBox="1"/>
          <p:nvPr/>
        </p:nvSpPr>
        <p:spPr>
          <a:xfrm>
            <a:off x="1823736" y="3438228"/>
            <a:ext cx="1534394" cy="369332"/>
          </a:xfrm>
          <a:prstGeom prst="rect">
            <a:avLst/>
          </a:prstGeom>
          <a:noFill/>
        </p:spPr>
        <p:txBody>
          <a:bodyPr wrap="none" rtlCol="0">
            <a:spAutoFit/>
          </a:bodyPr>
          <a:lstStyle/>
          <a:p>
            <a:r>
              <a:rPr lang="de-DE" b="0" i="0" dirty="0">
                <a:solidFill>
                  <a:schemeClr val="accent1"/>
                </a:solidFill>
                <a:effectLst/>
              </a:rPr>
              <a:t>„1791 – </a:t>
            </a:r>
            <a:r>
              <a:rPr lang="de-DE" dirty="0">
                <a:solidFill>
                  <a:schemeClr val="accent1"/>
                </a:solidFill>
              </a:rPr>
              <a:t>1843“</a:t>
            </a:r>
          </a:p>
        </p:txBody>
      </p:sp>
      <p:sp>
        <p:nvSpPr>
          <p:cNvPr id="15" name="Textfeld 14">
            <a:extLst>
              <a:ext uri="{FF2B5EF4-FFF2-40B4-BE49-F238E27FC236}">
                <a16:creationId xmlns:a16="http://schemas.microsoft.com/office/drawing/2014/main" id="{3FE60516-E0CF-7D36-58BE-B03A12BB5082}"/>
              </a:ext>
            </a:extLst>
          </p:cNvPr>
          <p:cNvSpPr txBox="1"/>
          <p:nvPr/>
        </p:nvSpPr>
        <p:spPr>
          <a:xfrm>
            <a:off x="1155066" y="3808964"/>
            <a:ext cx="2637692" cy="1200329"/>
          </a:xfrm>
          <a:prstGeom prst="rect">
            <a:avLst/>
          </a:prstGeom>
          <a:noFill/>
        </p:spPr>
        <p:txBody>
          <a:bodyPr wrap="square" rtlCol="0">
            <a:spAutoFit/>
          </a:bodyPr>
          <a:lstStyle/>
          <a:p>
            <a:r>
              <a:rPr lang="de-DE" dirty="0"/>
              <a:t>Die erste telegrafische Leitung wurde 1843 zwischen Washington und Baltimore gelegt.</a:t>
            </a:r>
          </a:p>
        </p:txBody>
      </p:sp>
      <p:sp>
        <p:nvSpPr>
          <p:cNvPr id="18" name="Textfeld 17">
            <a:extLst>
              <a:ext uri="{FF2B5EF4-FFF2-40B4-BE49-F238E27FC236}">
                <a16:creationId xmlns:a16="http://schemas.microsoft.com/office/drawing/2014/main" id="{51982C0E-9FC2-2DEE-0160-D725D49DB7F8}"/>
              </a:ext>
            </a:extLst>
          </p:cNvPr>
          <p:cNvSpPr txBox="1"/>
          <p:nvPr/>
        </p:nvSpPr>
        <p:spPr>
          <a:xfrm>
            <a:off x="1778340" y="2920804"/>
            <a:ext cx="1619739" cy="369332"/>
          </a:xfrm>
          <a:prstGeom prst="rect">
            <a:avLst/>
          </a:prstGeom>
          <a:noFill/>
        </p:spPr>
        <p:txBody>
          <a:bodyPr wrap="none" rtlCol="0">
            <a:spAutoFit/>
          </a:bodyPr>
          <a:lstStyle/>
          <a:p>
            <a:r>
              <a:rPr lang="de-DE" dirty="0">
                <a:solidFill>
                  <a:schemeClr val="accent1"/>
                </a:solidFill>
              </a:rPr>
              <a:t>Das Telegramm</a:t>
            </a:r>
          </a:p>
        </p:txBody>
      </p:sp>
      <p:cxnSp>
        <p:nvCxnSpPr>
          <p:cNvPr id="22" name="Gerader Verbinder 21">
            <a:extLst>
              <a:ext uri="{FF2B5EF4-FFF2-40B4-BE49-F238E27FC236}">
                <a16:creationId xmlns:a16="http://schemas.microsoft.com/office/drawing/2014/main" id="{61907F2A-ED96-17E5-498A-432F57922888}"/>
              </a:ext>
            </a:extLst>
          </p:cNvPr>
          <p:cNvCxnSpPr>
            <a:cxnSpLocks/>
          </p:cNvCxnSpPr>
          <p:nvPr/>
        </p:nvCxnSpPr>
        <p:spPr>
          <a:xfrm>
            <a:off x="489098" y="3314700"/>
            <a:ext cx="0" cy="309598"/>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B158137-B903-4853-E951-6202DE86ABC8}"/>
              </a:ext>
            </a:extLst>
          </p:cNvPr>
          <p:cNvSpPr txBox="1"/>
          <p:nvPr/>
        </p:nvSpPr>
        <p:spPr>
          <a:xfrm>
            <a:off x="99376" y="3593079"/>
            <a:ext cx="779444" cy="369332"/>
          </a:xfrm>
          <a:prstGeom prst="rect">
            <a:avLst/>
          </a:prstGeom>
          <a:noFill/>
        </p:spPr>
        <p:txBody>
          <a:bodyPr wrap="none" rtlCol="0">
            <a:spAutoFit/>
          </a:bodyPr>
          <a:lstStyle/>
          <a:p>
            <a:r>
              <a:rPr lang="de-DE" dirty="0">
                <a:solidFill>
                  <a:schemeClr val="accent1"/>
                </a:solidFill>
              </a:rPr>
              <a:t>Antike</a:t>
            </a:r>
          </a:p>
        </p:txBody>
      </p:sp>
      <p:sp>
        <p:nvSpPr>
          <p:cNvPr id="24" name="Textfeld 23">
            <a:extLst>
              <a:ext uri="{FF2B5EF4-FFF2-40B4-BE49-F238E27FC236}">
                <a16:creationId xmlns:a16="http://schemas.microsoft.com/office/drawing/2014/main" id="{4E0519A8-14D0-7143-8040-60CD6DC1D544}"/>
              </a:ext>
            </a:extLst>
          </p:cNvPr>
          <p:cNvSpPr txBox="1"/>
          <p:nvPr/>
        </p:nvSpPr>
        <p:spPr>
          <a:xfrm>
            <a:off x="0" y="2920804"/>
            <a:ext cx="1456489" cy="369332"/>
          </a:xfrm>
          <a:prstGeom prst="rect">
            <a:avLst/>
          </a:prstGeom>
          <a:noFill/>
        </p:spPr>
        <p:txBody>
          <a:bodyPr wrap="none" rtlCol="0">
            <a:spAutoFit/>
          </a:bodyPr>
          <a:lstStyle/>
          <a:p>
            <a:r>
              <a:rPr lang="de-DE" dirty="0">
                <a:solidFill>
                  <a:schemeClr val="accent1"/>
                </a:solidFill>
              </a:rPr>
              <a:t>Die Telegrafie</a:t>
            </a:r>
          </a:p>
        </p:txBody>
      </p:sp>
      <p:sp>
        <p:nvSpPr>
          <p:cNvPr id="26" name="Textfeld 25">
            <a:extLst>
              <a:ext uri="{FF2B5EF4-FFF2-40B4-BE49-F238E27FC236}">
                <a16:creationId xmlns:a16="http://schemas.microsoft.com/office/drawing/2014/main" id="{F631FF0E-04D2-9F2B-8C94-B87A46B3E973}"/>
              </a:ext>
            </a:extLst>
          </p:cNvPr>
          <p:cNvSpPr txBox="1"/>
          <p:nvPr/>
        </p:nvSpPr>
        <p:spPr>
          <a:xfrm>
            <a:off x="0" y="1499259"/>
            <a:ext cx="3732028" cy="1477328"/>
          </a:xfrm>
          <a:prstGeom prst="rect">
            <a:avLst/>
          </a:prstGeom>
          <a:noFill/>
        </p:spPr>
        <p:txBody>
          <a:bodyPr wrap="square" rtlCol="0">
            <a:spAutoFit/>
          </a:bodyPr>
          <a:lstStyle/>
          <a:p>
            <a:r>
              <a:rPr lang="de-DE" b="0" i="0" dirty="0">
                <a:solidFill>
                  <a:srgbClr val="202122"/>
                </a:solidFill>
                <a:effectLst/>
              </a:rPr>
              <a:t>Die </a:t>
            </a:r>
            <a:r>
              <a:rPr lang="de-DE" b="1" i="0" dirty="0">
                <a:solidFill>
                  <a:srgbClr val="202122"/>
                </a:solidFill>
                <a:effectLst/>
              </a:rPr>
              <a:t>Telegrafie </a:t>
            </a:r>
            <a:r>
              <a:rPr lang="de-DE" b="0" i="0" dirty="0">
                <a:solidFill>
                  <a:srgbClr val="202122"/>
                </a:solidFill>
                <a:effectLst/>
              </a:rPr>
              <a:t>ist die Übermittlung codierter Nachrichten über eine geographische Distanz, bei der keine Objekte zwischen Sende- und Empfangsort bewegt werden. </a:t>
            </a:r>
            <a:endParaRPr lang="de-DE" dirty="0"/>
          </a:p>
        </p:txBody>
      </p:sp>
      <p:sp>
        <p:nvSpPr>
          <p:cNvPr id="31" name="Textfeld 30">
            <a:extLst>
              <a:ext uri="{FF2B5EF4-FFF2-40B4-BE49-F238E27FC236}">
                <a16:creationId xmlns:a16="http://schemas.microsoft.com/office/drawing/2014/main" id="{53F97327-A8B7-BA0A-32D3-1C46027E1D0A}"/>
              </a:ext>
            </a:extLst>
          </p:cNvPr>
          <p:cNvSpPr txBox="1"/>
          <p:nvPr/>
        </p:nvSpPr>
        <p:spPr>
          <a:xfrm>
            <a:off x="3876557" y="2899892"/>
            <a:ext cx="1263295" cy="369332"/>
          </a:xfrm>
          <a:prstGeom prst="rect">
            <a:avLst/>
          </a:prstGeom>
          <a:noFill/>
        </p:spPr>
        <p:txBody>
          <a:bodyPr wrap="none" rtlCol="0">
            <a:spAutoFit/>
          </a:bodyPr>
          <a:lstStyle/>
          <a:p>
            <a:r>
              <a:rPr lang="de-DE" dirty="0">
                <a:solidFill>
                  <a:schemeClr val="accent1"/>
                </a:solidFill>
              </a:rPr>
              <a:t>Das Telefon</a:t>
            </a:r>
          </a:p>
        </p:txBody>
      </p:sp>
      <p:sp>
        <p:nvSpPr>
          <p:cNvPr id="32" name="Textfeld 31">
            <a:extLst>
              <a:ext uri="{FF2B5EF4-FFF2-40B4-BE49-F238E27FC236}">
                <a16:creationId xmlns:a16="http://schemas.microsoft.com/office/drawing/2014/main" id="{275D94E1-4B3A-B9E4-BF80-F36B9D274EAB}"/>
              </a:ext>
            </a:extLst>
          </p:cNvPr>
          <p:cNvSpPr txBox="1"/>
          <p:nvPr/>
        </p:nvSpPr>
        <p:spPr>
          <a:xfrm>
            <a:off x="4181832" y="3624298"/>
            <a:ext cx="652743" cy="369332"/>
          </a:xfrm>
          <a:prstGeom prst="rect">
            <a:avLst/>
          </a:prstGeom>
          <a:noFill/>
        </p:spPr>
        <p:txBody>
          <a:bodyPr wrap="none" rtlCol="0">
            <a:spAutoFit/>
          </a:bodyPr>
          <a:lstStyle/>
          <a:p>
            <a:r>
              <a:rPr lang="de-DE" dirty="0">
                <a:solidFill>
                  <a:schemeClr val="accent1"/>
                </a:solidFill>
              </a:rPr>
              <a:t>1876</a:t>
            </a:r>
          </a:p>
        </p:txBody>
      </p:sp>
      <p:sp>
        <p:nvSpPr>
          <p:cNvPr id="33" name="Textfeld 32">
            <a:extLst>
              <a:ext uri="{FF2B5EF4-FFF2-40B4-BE49-F238E27FC236}">
                <a16:creationId xmlns:a16="http://schemas.microsoft.com/office/drawing/2014/main" id="{1FFF4CFB-79B5-F9E2-15A1-AF65B3295959}"/>
              </a:ext>
            </a:extLst>
          </p:cNvPr>
          <p:cNvSpPr txBox="1"/>
          <p:nvPr/>
        </p:nvSpPr>
        <p:spPr>
          <a:xfrm>
            <a:off x="3719930" y="1520523"/>
            <a:ext cx="4295552" cy="1477328"/>
          </a:xfrm>
          <a:prstGeom prst="rect">
            <a:avLst/>
          </a:prstGeom>
          <a:noFill/>
        </p:spPr>
        <p:txBody>
          <a:bodyPr wrap="square" rtlCol="0">
            <a:spAutoFit/>
          </a:bodyPr>
          <a:lstStyle/>
          <a:p>
            <a:r>
              <a:rPr lang="de-DE" b="0" i="0" dirty="0">
                <a:effectLst/>
              </a:rPr>
              <a:t>Das </a:t>
            </a:r>
            <a:r>
              <a:rPr lang="de-DE" b="1" i="0" dirty="0">
                <a:effectLst/>
              </a:rPr>
              <a:t>Telefon </a:t>
            </a:r>
            <a:r>
              <a:rPr lang="de-DE" b="0" i="0" dirty="0">
                <a:effectLst/>
              </a:rPr>
              <a:t>ist ein in seiner modernen Form 1876 von </a:t>
            </a:r>
            <a:r>
              <a:rPr lang="de-DE" b="0" i="0" strike="noStrike" dirty="0">
                <a:effectLst/>
              </a:rPr>
              <a:t>Alexander Graham Bell</a:t>
            </a:r>
            <a:r>
              <a:rPr lang="de-DE" b="0" i="0" dirty="0">
                <a:effectLst/>
              </a:rPr>
              <a:t> entwickeltes </a:t>
            </a:r>
            <a:r>
              <a:rPr lang="de-DE" b="0" i="0" strike="noStrike" dirty="0">
                <a:effectLst/>
              </a:rPr>
              <a:t>Kommunikationsmittel</a:t>
            </a:r>
            <a:r>
              <a:rPr lang="de-DE" b="0" i="0" dirty="0">
                <a:effectLst/>
              </a:rPr>
              <a:t> zur Übermittlung von </a:t>
            </a:r>
            <a:r>
              <a:rPr lang="de-DE" b="0" i="0" strike="noStrike" dirty="0">
                <a:effectLst/>
              </a:rPr>
              <a:t>Tönen</a:t>
            </a:r>
            <a:r>
              <a:rPr lang="de-DE" b="0" i="0" dirty="0">
                <a:effectLst/>
              </a:rPr>
              <a:t> und speziell von </a:t>
            </a:r>
            <a:r>
              <a:rPr lang="de-DE" b="0" i="0" strike="noStrike" dirty="0">
                <a:effectLst/>
              </a:rPr>
              <a:t>Sprache</a:t>
            </a:r>
            <a:r>
              <a:rPr lang="de-DE" b="0" i="0" dirty="0">
                <a:effectLst/>
              </a:rPr>
              <a:t> mittels elektrischer </a:t>
            </a:r>
            <a:r>
              <a:rPr lang="de-DE" b="0" i="0" strike="noStrike" dirty="0">
                <a:effectLst/>
              </a:rPr>
              <a:t>Signale</a:t>
            </a:r>
            <a:r>
              <a:rPr lang="de-DE" b="0" i="0" dirty="0">
                <a:effectLst/>
              </a:rPr>
              <a:t>.</a:t>
            </a:r>
            <a:endParaRPr lang="de-DE" dirty="0"/>
          </a:p>
        </p:txBody>
      </p:sp>
      <p:pic>
        <p:nvPicPr>
          <p:cNvPr id="35" name="Grafik 34">
            <a:extLst>
              <a:ext uri="{FF2B5EF4-FFF2-40B4-BE49-F238E27FC236}">
                <a16:creationId xmlns:a16="http://schemas.microsoft.com/office/drawing/2014/main" id="{DC56D6F1-388A-7583-4BE0-45F93651C7C5}"/>
              </a:ext>
            </a:extLst>
          </p:cNvPr>
          <p:cNvPicPr>
            <a:picLocks noChangeAspect="1"/>
          </p:cNvPicPr>
          <p:nvPr/>
        </p:nvPicPr>
        <p:blipFill>
          <a:blip r:embed="rId6"/>
          <a:stretch>
            <a:fillRect/>
          </a:stretch>
        </p:blipFill>
        <p:spPr>
          <a:xfrm>
            <a:off x="3874087" y="3982494"/>
            <a:ext cx="1714500" cy="2862787"/>
          </a:xfrm>
          <a:prstGeom prst="rect">
            <a:avLst/>
          </a:prstGeom>
        </p:spPr>
      </p:pic>
      <p:cxnSp>
        <p:nvCxnSpPr>
          <p:cNvPr id="38" name="Gerader Verbinder 37">
            <a:extLst>
              <a:ext uri="{FF2B5EF4-FFF2-40B4-BE49-F238E27FC236}">
                <a16:creationId xmlns:a16="http://schemas.microsoft.com/office/drawing/2014/main" id="{4CAA77B1-50D9-5194-6997-F1F7C133CD9D}"/>
              </a:ext>
            </a:extLst>
          </p:cNvPr>
          <p:cNvCxnSpPr>
            <a:cxnSpLocks/>
          </p:cNvCxnSpPr>
          <p:nvPr/>
        </p:nvCxnSpPr>
        <p:spPr>
          <a:xfrm>
            <a:off x="4508203" y="3332162"/>
            <a:ext cx="0" cy="30959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9CBE2383-3E0A-533A-5225-14C20E69DEE2}"/>
              </a:ext>
            </a:extLst>
          </p:cNvPr>
          <p:cNvCxnSpPr/>
          <p:nvPr/>
        </p:nvCxnSpPr>
        <p:spPr>
          <a:xfrm>
            <a:off x="7248827" y="3328870"/>
            <a:ext cx="0" cy="11430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3AD9C2D3-275A-E373-5D97-F54E06B1E32F}"/>
              </a:ext>
            </a:extLst>
          </p:cNvPr>
          <p:cNvSpPr txBox="1"/>
          <p:nvPr/>
        </p:nvSpPr>
        <p:spPr>
          <a:xfrm>
            <a:off x="6352492" y="2899266"/>
            <a:ext cx="1792670" cy="369332"/>
          </a:xfrm>
          <a:prstGeom prst="rect">
            <a:avLst/>
          </a:prstGeom>
          <a:noFill/>
        </p:spPr>
        <p:txBody>
          <a:bodyPr wrap="none" rtlCol="0">
            <a:spAutoFit/>
          </a:bodyPr>
          <a:lstStyle/>
          <a:p>
            <a:r>
              <a:rPr lang="de-DE" dirty="0">
                <a:solidFill>
                  <a:schemeClr val="accent1"/>
                </a:solidFill>
              </a:rPr>
              <a:t>Das Mobiltelefon</a:t>
            </a:r>
          </a:p>
        </p:txBody>
      </p:sp>
      <p:sp>
        <p:nvSpPr>
          <p:cNvPr id="41" name="Textfeld 40">
            <a:extLst>
              <a:ext uri="{FF2B5EF4-FFF2-40B4-BE49-F238E27FC236}">
                <a16:creationId xmlns:a16="http://schemas.microsoft.com/office/drawing/2014/main" id="{03A86ED4-BA3C-34D8-F133-D736416CA37F}"/>
              </a:ext>
            </a:extLst>
          </p:cNvPr>
          <p:cNvSpPr txBox="1"/>
          <p:nvPr/>
        </p:nvSpPr>
        <p:spPr>
          <a:xfrm>
            <a:off x="6653151" y="3439632"/>
            <a:ext cx="1191352" cy="369332"/>
          </a:xfrm>
          <a:prstGeom prst="rect">
            <a:avLst/>
          </a:prstGeom>
          <a:noFill/>
        </p:spPr>
        <p:txBody>
          <a:bodyPr wrap="none" rtlCol="0">
            <a:spAutoFit/>
          </a:bodyPr>
          <a:lstStyle/>
          <a:p>
            <a:r>
              <a:rPr lang="de-DE" dirty="0">
                <a:solidFill>
                  <a:schemeClr val="accent1"/>
                </a:solidFill>
              </a:rPr>
              <a:t>1946-1983</a:t>
            </a:r>
          </a:p>
        </p:txBody>
      </p:sp>
      <p:sp>
        <p:nvSpPr>
          <p:cNvPr id="43" name="Textfeld 42">
            <a:extLst>
              <a:ext uri="{FF2B5EF4-FFF2-40B4-BE49-F238E27FC236}">
                <a16:creationId xmlns:a16="http://schemas.microsoft.com/office/drawing/2014/main" id="{B24F30BA-5690-5C29-9B55-6DF575E8EB32}"/>
              </a:ext>
            </a:extLst>
          </p:cNvPr>
          <p:cNvSpPr txBox="1"/>
          <p:nvPr/>
        </p:nvSpPr>
        <p:spPr>
          <a:xfrm>
            <a:off x="5805751" y="3967838"/>
            <a:ext cx="5683882" cy="2585323"/>
          </a:xfrm>
          <a:prstGeom prst="rect">
            <a:avLst/>
          </a:prstGeom>
          <a:noFill/>
        </p:spPr>
        <p:txBody>
          <a:bodyPr wrap="square" rtlCol="0">
            <a:spAutoFit/>
          </a:bodyPr>
          <a:lstStyle/>
          <a:p>
            <a:r>
              <a:rPr lang="de-DE" b="0" i="0" dirty="0">
                <a:effectLst/>
              </a:rPr>
              <a:t>Ein </a:t>
            </a:r>
            <a:r>
              <a:rPr lang="de-DE" b="1" i="0" dirty="0">
                <a:effectLst/>
              </a:rPr>
              <a:t>Mobiltelefon </a:t>
            </a:r>
            <a:r>
              <a:rPr lang="de-DE" b="0" i="0" dirty="0">
                <a:effectLst/>
              </a:rPr>
              <a:t>ist ein tragbares </a:t>
            </a:r>
            <a:r>
              <a:rPr lang="de-DE" b="0" i="0" u="none" strike="noStrike" dirty="0">
                <a:effectLst/>
              </a:rPr>
              <a:t>Telefon</a:t>
            </a:r>
            <a:r>
              <a:rPr lang="de-DE" b="0" i="0" dirty="0">
                <a:effectLst/>
              </a:rPr>
              <a:t>, das über </a:t>
            </a:r>
            <a:r>
              <a:rPr lang="de-DE" b="0" i="0" u="none" strike="noStrike" dirty="0">
                <a:effectLst/>
              </a:rPr>
              <a:t>Funk</a:t>
            </a:r>
            <a:r>
              <a:rPr lang="de-DE" b="0" i="0" dirty="0">
                <a:effectLst/>
              </a:rPr>
              <a:t> mit dem </a:t>
            </a:r>
            <a:r>
              <a:rPr lang="de-DE" b="0" i="0" u="none" strike="noStrike" dirty="0">
                <a:effectLst/>
              </a:rPr>
              <a:t>Telefonnetz</a:t>
            </a:r>
            <a:r>
              <a:rPr lang="de-DE" b="0" i="0" dirty="0">
                <a:effectLst/>
              </a:rPr>
              <a:t> kommuniziert und daher ortsunabhängig eingesetzt werden kann. Im Jahre 2013 wurden weltweit erstmals mehr internetfähige Mobiltelefone mit berührungsempfindlichen Bildschirmen (</a:t>
            </a:r>
            <a:r>
              <a:rPr lang="de-DE" b="0" i="0" u="none" strike="noStrike" dirty="0">
                <a:effectLst/>
              </a:rPr>
              <a:t>Smartphones</a:t>
            </a:r>
            <a:r>
              <a:rPr lang="de-DE" b="0" i="0" dirty="0">
                <a:effectLst/>
              </a:rPr>
              <a:t>) als herkömmliche Mobiltelefone verkauft. </a:t>
            </a:r>
          </a:p>
          <a:p>
            <a:r>
              <a:rPr lang="de-DE" b="0" i="0" dirty="0">
                <a:effectLst/>
              </a:rPr>
              <a:t>Die ersten </a:t>
            </a:r>
            <a:r>
              <a:rPr lang="de-DE" b="1" i="0" dirty="0">
                <a:effectLst/>
              </a:rPr>
              <a:t>Mobilfunkgespräche</a:t>
            </a:r>
            <a:r>
              <a:rPr lang="de-DE" b="0" i="0" dirty="0">
                <a:effectLst/>
              </a:rPr>
              <a:t> wurden über in Kraftfahrzeugen montierte Endgeräte – </a:t>
            </a:r>
            <a:r>
              <a:rPr lang="de-DE" b="0" i="0" u="none" strike="noStrike" dirty="0">
                <a:effectLst/>
              </a:rPr>
              <a:t>Autotelefone</a:t>
            </a:r>
            <a:r>
              <a:rPr lang="de-DE" b="0" i="0" dirty="0">
                <a:effectLst/>
              </a:rPr>
              <a:t> – im Jahr 1946 möglich.</a:t>
            </a:r>
            <a:endParaRPr lang="de-DE" dirty="0"/>
          </a:p>
        </p:txBody>
      </p:sp>
    </p:spTree>
    <p:extLst>
      <p:ext uri="{BB962C8B-B14F-4D97-AF65-F5344CB8AC3E}">
        <p14:creationId xmlns:p14="http://schemas.microsoft.com/office/powerpoint/2010/main" val="147845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fik 35">
            <a:extLst>
              <a:ext uri="{FF2B5EF4-FFF2-40B4-BE49-F238E27FC236}">
                <a16:creationId xmlns:a16="http://schemas.microsoft.com/office/drawing/2014/main" id="{7382BEBF-3E37-B2CB-304C-144FDEB86D49}"/>
              </a:ext>
            </a:extLst>
          </p:cNvPr>
          <p:cNvPicPr>
            <a:picLocks noChangeAspect="1"/>
          </p:cNvPicPr>
          <p:nvPr/>
        </p:nvPicPr>
        <p:blipFill>
          <a:blip r:embed="rId3">
            <a:alphaModFix amt="68000"/>
          </a:blip>
          <a:stretch>
            <a:fillRect/>
          </a:stretch>
        </p:blipFill>
        <p:spPr>
          <a:xfrm>
            <a:off x="6688765" y="4281760"/>
            <a:ext cx="2171700" cy="2581275"/>
          </a:xfrm>
          <a:prstGeom prst="rect">
            <a:avLst/>
          </a:prstGeom>
        </p:spPr>
      </p:pic>
      <p:pic>
        <p:nvPicPr>
          <p:cNvPr id="30" name="Grafik 29">
            <a:extLst>
              <a:ext uri="{FF2B5EF4-FFF2-40B4-BE49-F238E27FC236}">
                <a16:creationId xmlns:a16="http://schemas.microsoft.com/office/drawing/2014/main" id="{8423E47D-EE1A-2D8E-771F-FE7679C0867D}"/>
              </a:ext>
            </a:extLst>
          </p:cNvPr>
          <p:cNvPicPr>
            <a:picLocks noChangeAspect="1"/>
          </p:cNvPicPr>
          <p:nvPr/>
        </p:nvPicPr>
        <p:blipFill>
          <a:blip r:embed="rId4"/>
          <a:stretch>
            <a:fillRect/>
          </a:stretch>
        </p:blipFill>
        <p:spPr>
          <a:xfrm>
            <a:off x="6011186" y="1796683"/>
            <a:ext cx="2228850" cy="1943100"/>
          </a:xfrm>
          <a:prstGeom prst="rect">
            <a:avLst/>
          </a:prstGeom>
        </p:spPr>
      </p:pic>
      <p:pic>
        <p:nvPicPr>
          <p:cNvPr id="20" name="Grafik 19">
            <a:extLst>
              <a:ext uri="{FF2B5EF4-FFF2-40B4-BE49-F238E27FC236}">
                <a16:creationId xmlns:a16="http://schemas.microsoft.com/office/drawing/2014/main" id="{DEF60795-DB5E-4A8D-24DE-1072D89B8EAA}"/>
              </a:ext>
            </a:extLst>
          </p:cNvPr>
          <p:cNvPicPr>
            <a:picLocks noChangeAspect="1"/>
          </p:cNvPicPr>
          <p:nvPr/>
        </p:nvPicPr>
        <p:blipFill>
          <a:blip r:embed="rId5"/>
          <a:stretch>
            <a:fillRect/>
          </a:stretch>
        </p:blipFill>
        <p:spPr>
          <a:xfrm>
            <a:off x="470700" y="1544559"/>
            <a:ext cx="1121316" cy="1363068"/>
          </a:xfrm>
          <a:prstGeom prst="rect">
            <a:avLst/>
          </a:prstGeom>
        </p:spPr>
      </p:pic>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fontScale="90000"/>
          </a:bodyPr>
          <a:lstStyle/>
          <a:p>
            <a:r>
              <a:rPr lang="de-DE" dirty="0"/>
              <a:t>Informationstechnologie – Historische Übersicht</a:t>
            </a:r>
            <a:br>
              <a:rPr lang="de-DE" dirty="0"/>
            </a:br>
            <a:r>
              <a:rPr lang="de-DE" sz="2200" dirty="0"/>
              <a:t>Die Welt der Nullen und Einsen</a:t>
            </a:r>
            <a:endParaRPr lang="de-DE" dirty="0"/>
          </a:p>
        </p:txBody>
      </p:sp>
      <p:cxnSp>
        <p:nvCxnSpPr>
          <p:cNvPr id="10" name="Gerade Verbindung mit Pfeil 9">
            <a:extLst>
              <a:ext uri="{FF2B5EF4-FFF2-40B4-BE49-F238E27FC236}">
                <a16:creationId xmlns:a16="http://schemas.microsoft.com/office/drawing/2014/main" id="{D758B5FD-3D36-1434-59E2-8F5BD0AB8551}"/>
              </a:ext>
            </a:extLst>
          </p:cNvPr>
          <p:cNvCxnSpPr>
            <a:cxnSpLocks/>
          </p:cNvCxnSpPr>
          <p:nvPr/>
        </p:nvCxnSpPr>
        <p:spPr>
          <a:xfrm flipV="1">
            <a:off x="272563" y="3290136"/>
            <a:ext cx="11217070" cy="24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18DFE12E-3453-ADEB-3FEF-1FBB77E34B6B}"/>
              </a:ext>
            </a:extLst>
          </p:cNvPr>
          <p:cNvCxnSpPr/>
          <p:nvPr/>
        </p:nvCxnSpPr>
        <p:spPr>
          <a:xfrm>
            <a:off x="5427104" y="3304067"/>
            <a:ext cx="0" cy="114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4CAA77B1-50D9-5194-6997-F1F7C133CD9D}"/>
              </a:ext>
            </a:extLst>
          </p:cNvPr>
          <p:cNvCxnSpPr>
            <a:cxnSpLocks/>
          </p:cNvCxnSpPr>
          <p:nvPr/>
        </p:nvCxnSpPr>
        <p:spPr>
          <a:xfrm>
            <a:off x="1977655" y="3332162"/>
            <a:ext cx="0" cy="309598"/>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Gerade Verbindung mit Pfeil 3">
            <a:extLst>
              <a:ext uri="{FF2B5EF4-FFF2-40B4-BE49-F238E27FC236}">
                <a16:creationId xmlns:a16="http://schemas.microsoft.com/office/drawing/2014/main" id="{DC56E391-CD58-DC4E-47EF-1474E8232EFC}"/>
              </a:ext>
            </a:extLst>
          </p:cNvPr>
          <p:cNvCxnSpPr>
            <a:cxnSpLocks/>
          </p:cNvCxnSpPr>
          <p:nvPr/>
        </p:nvCxnSpPr>
        <p:spPr>
          <a:xfrm>
            <a:off x="272563" y="3304067"/>
            <a:ext cx="758795" cy="10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BABC7C0D-D345-3C59-CE5C-C9DF14EA1AC6}"/>
              </a:ext>
            </a:extLst>
          </p:cNvPr>
          <p:cNvCxnSpPr>
            <a:cxnSpLocks/>
          </p:cNvCxnSpPr>
          <p:nvPr/>
        </p:nvCxnSpPr>
        <p:spPr>
          <a:xfrm>
            <a:off x="8596057" y="3012675"/>
            <a:ext cx="0" cy="30959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EA9731C3-CA10-B54D-E21E-4087BD9491B9}"/>
              </a:ext>
            </a:extLst>
          </p:cNvPr>
          <p:cNvSpPr txBox="1"/>
          <p:nvPr/>
        </p:nvSpPr>
        <p:spPr>
          <a:xfrm>
            <a:off x="1405222" y="2903342"/>
            <a:ext cx="1144865" cy="369332"/>
          </a:xfrm>
          <a:prstGeom prst="rect">
            <a:avLst/>
          </a:prstGeom>
          <a:noFill/>
        </p:spPr>
        <p:txBody>
          <a:bodyPr wrap="none" rtlCol="0">
            <a:spAutoFit/>
          </a:bodyPr>
          <a:lstStyle/>
          <a:p>
            <a:r>
              <a:rPr lang="de-DE" dirty="0">
                <a:solidFill>
                  <a:schemeClr val="accent1"/>
                </a:solidFill>
              </a:rPr>
              <a:t>Die E-Mail</a:t>
            </a:r>
          </a:p>
        </p:txBody>
      </p:sp>
      <p:sp>
        <p:nvSpPr>
          <p:cNvPr id="9" name="Textfeld 8">
            <a:extLst>
              <a:ext uri="{FF2B5EF4-FFF2-40B4-BE49-F238E27FC236}">
                <a16:creationId xmlns:a16="http://schemas.microsoft.com/office/drawing/2014/main" id="{4BA548C7-9948-560D-CA16-AA9D5C686371}"/>
              </a:ext>
            </a:extLst>
          </p:cNvPr>
          <p:cNvSpPr txBox="1"/>
          <p:nvPr/>
        </p:nvSpPr>
        <p:spPr>
          <a:xfrm>
            <a:off x="4754992" y="2903342"/>
            <a:ext cx="1341008" cy="369332"/>
          </a:xfrm>
          <a:prstGeom prst="rect">
            <a:avLst/>
          </a:prstGeom>
          <a:noFill/>
        </p:spPr>
        <p:txBody>
          <a:bodyPr wrap="none" rtlCol="0">
            <a:spAutoFit/>
          </a:bodyPr>
          <a:lstStyle/>
          <a:p>
            <a:r>
              <a:rPr lang="de-DE" dirty="0">
                <a:solidFill>
                  <a:schemeClr val="accent1"/>
                </a:solidFill>
              </a:rPr>
              <a:t>Das Internet</a:t>
            </a:r>
          </a:p>
        </p:txBody>
      </p:sp>
      <p:sp>
        <p:nvSpPr>
          <p:cNvPr id="11" name="Textfeld 10">
            <a:extLst>
              <a:ext uri="{FF2B5EF4-FFF2-40B4-BE49-F238E27FC236}">
                <a16:creationId xmlns:a16="http://schemas.microsoft.com/office/drawing/2014/main" id="{8A8BFA30-A040-9201-B471-73D81A35E213}"/>
              </a:ext>
            </a:extLst>
          </p:cNvPr>
          <p:cNvSpPr txBox="1"/>
          <p:nvPr/>
        </p:nvSpPr>
        <p:spPr>
          <a:xfrm>
            <a:off x="8540323" y="1027906"/>
            <a:ext cx="381836" cy="3416320"/>
          </a:xfrm>
          <a:prstGeom prst="rect">
            <a:avLst/>
          </a:prstGeom>
          <a:noFill/>
        </p:spPr>
        <p:txBody>
          <a:bodyPr wrap="none" rtlCol="0">
            <a:spAutoFit/>
          </a:bodyPr>
          <a:lstStyle/>
          <a:p>
            <a:r>
              <a:rPr lang="de-DE" dirty="0">
                <a:solidFill>
                  <a:schemeClr val="accent1"/>
                </a:solidFill>
              </a:rPr>
              <a:t>D</a:t>
            </a:r>
          </a:p>
          <a:p>
            <a:r>
              <a:rPr lang="de-DE" dirty="0">
                <a:solidFill>
                  <a:schemeClr val="accent1"/>
                </a:solidFill>
              </a:rPr>
              <a:t>E</a:t>
            </a:r>
          </a:p>
          <a:p>
            <a:r>
              <a:rPr lang="de-DE" dirty="0">
                <a:solidFill>
                  <a:schemeClr val="accent1"/>
                </a:solidFill>
              </a:rPr>
              <a:t>R</a:t>
            </a:r>
          </a:p>
          <a:p>
            <a:r>
              <a:rPr lang="de-DE" dirty="0">
                <a:solidFill>
                  <a:schemeClr val="accent1"/>
                </a:solidFill>
              </a:rPr>
              <a:t> </a:t>
            </a:r>
          </a:p>
          <a:p>
            <a:r>
              <a:rPr lang="de-DE" dirty="0">
                <a:solidFill>
                  <a:schemeClr val="accent1"/>
                </a:solidFill>
              </a:rPr>
              <a:t>C</a:t>
            </a:r>
          </a:p>
          <a:p>
            <a:r>
              <a:rPr lang="de-DE" dirty="0">
                <a:solidFill>
                  <a:schemeClr val="accent1"/>
                </a:solidFill>
              </a:rPr>
              <a:t>O</a:t>
            </a:r>
          </a:p>
          <a:p>
            <a:r>
              <a:rPr lang="de-DE" dirty="0">
                <a:solidFill>
                  <a:schemeClr val="accent1"/>
                </a:solidFill>
              </a:rPr>
              <a:t>M</a:t>
            </a:r>
          </a:p>
          <a:p>
            <a:r>
              <a:rPr lang="de-DE" dirty="0">
                <a:solidFill>
                  <a:schemeClr val="accent1"/>
                </a:solidFill>
              </a:rPr>
              <a:t>P</a:t>
            </a:r>
          </a:p>
          <a:p>
            <a:r>
              <a:rPr lang="de-DE" dirty="0">
                <a:solidFill>
                  <a:schemeClr val="accent1"/>
                </a:solidFill>
              </a:rPr>
              <a:t>U</a:t>
            </a:r>
          </a:p>
          <a:p>
            <a:r>
              <a:rPr lang="de-DE" dirty="0">
                <a:solidFill>
                  <a:schemeClr val="accent1"/>
                </a:solidFill>
              </a:rPr>
              <a:t>T</a:t>
            </a:r>
          </a:p>
          <a:p>
            <a:r>
              <a:rPr lang="de-DE" dirty="0">
                <a:solidFill>
                  <a:schemeClr val="accent1"/>
                </a:solidFill>
              </a:rPr>
              <a:t>E</a:t>
            </a:r>
          </a:p>
          <a:p>
            <a:r>
              <a:rPr lang="de-DE" dirty="0">
                <a:solidFill>
                  <a:schemeClr val="accent1"/>
                </a:solidFill>
              </a:rPr>
              <a:t>R</a:t>
            </a:r>
          </a:p>
        </p:txBody>
      </p:sp>
      <p:sp>
        <p:nvSpPr>
          <p:cNvPr id="12" name="Textfeld 11">
            <a:extLst>
              <a:ext uri="{FF2B5EF4-FFF2-40B4-BE49-F238E27FC236}">
                <a16:creationId xmlns:a16="http://schemas.microsoft.com/office/drawing/2014/main" id="{E1F70485-6B42-CE4F-92CB-CC75FE703728}"/>
              </a:ext>
            </a:extLst>
          </p:cNvPr>
          <p:cNvSpPr txBox="1"/>
          <p:nvPr/>
        </p:nvSpPr>
        <p:spPr>
          <a:xfrm>
            <a:off x="1651282" y="3543301"/>
            <a:ext cx="652743" cy="369332"/>
          </a:xfrm>
          <a:prstGeom prst="rect">
            <a:avLst/>
          </a:prstGeom>
          <a:noFill/>
        </p:spPr>
        <p:txBody>
          <a:bodyPr wrap="none" rtlCol="0">
            <a:spAutoFit/>
          </a:bodyPr>
          <a:lstStyle/>
          <a:p>
            <a:r>
              <a:rPr lang="de-DE" dirty="0">
                <a:solidFill>
                  <a:schemeClr val="accent1"/>
                </a:solidFill>
              </a:rPr>
              <a:t>1971</a:t>
            </a:r>
          </a:p>
        </p:txBody>
      </p:sp>
      <p:sp>
        <p:nvSpPr>
          <p:cNvPr id="16" name="Textfeld 15">
            <a:extLst>
              <a:ext uri="{FF2B5EF4-FFF2-40B4-BE49-F238E27FC236}">
                <a16:creationId xmlns:a16="http://schemas.microsoft.com/office/drawing/2014/main" id="{CB235F46-5638-6765-47A1-CDC27096D26B}"/>
              </a:ext>
            </a:extLst>
          </p:cNvPr>
          <p:cNvSpPr txBox="1"/>
          <p:nvPr/>
        </p:nvSpPr>
        <p:spPr>
          <a:xfrm>
            <a:off x="272563" y="3730497"/>
            <a:ext cx="4482426" cy="2308324"/>
          </a:xfrm>
          <a:prstGeom prst="rect">
            <a:avLst/>
          </a:prstGeom>
          <a:noFill/>
        </p:spPr>
        <p:txBody>
          <a:bodyPr wrap="square" rtlCol="0">
            <a:spAutoFit/>
          </a:bodyPr>
          <a:lstStyle/>
          <a:p>
            <a:r>
              <a:rPr lang="de-DE" b="0" i="0" u="none" strike="noStrike" dirty="0">
                <a:effectLst/>
              </a:rPr>
              <a:t>Ray Tomlinson</a:t>
            </a:r>
            <a:r>
              <a:rPr lang="de-DE" b="0" i="0" dirty="0">
                <a:effectLst/>
              </a:rPr>
              <a:t> hat im Oktober 1971</a:t>
            </a:r>
            <a:r>
              <a:rPr lang="de-DE" b="0" i="0" baseline="30000" dirty="0">
                <a:effectLst/>
              </a:rPr>
              <a:t> </a:t>
            </a:r>
            <a:r>
              <a:rPr lang="de-DE" b="0" i="0" dirty="0">
                <a:effectLst/>
              </a:rPr>
              <a:t>den ersten elektronischen Brief verschickt und gilt seitdem als Erfinder der E-Mail.</a:t>
            </a:r>
            <a:r>
              <a:rPr lang="de-DE" b="0" i="0" baseline="30000" dirty="0">
                <a:effectLst/>
              </a:rPr>
              <a:t> </a:t>
            </a:r>
            <a:r>
              <a:rPr lang="de-DE" b="0" i="0" dirty="0">
                <a:effectLst/>
              </a:rPr>
              <a:t>Er war bei dem Forschungsunternehmen </a:t>
            </a:r>
            <a:r>
              <a:rPr lang="de-DE" b="0" i="0" u="none" strike="noStrike" dirty="0">
                <a:effectLst/>
              </a:rPr>
              <a:t>Bolt, Beranek and Newman (BBN)</a:t>
            </a:r>
            <a:r>
              <a:rPr lang="de-DE" b="0" i="0" dirty="0">
                <a:effectLst/>
              </a:rPr>
              <a:t> an der Entwicklung des Betriebssystems </a:t>
            </a:r>
            <a:r>
              <a:rPr lang="de-DE" b="0" i="0" u="none" strike="noStrike" dirty="0">
                <a:effectLst/>
              </a:rPr>
              <a:t>TENEX</a:t>
            </a:r>
            <a:r>
              <a:rPr lang="de-DE" b="0" i="0" dirty="0">
                <a:effectLst/>
              </a:rPr>
              <a:t> beteiligt, das auf vielen im Arpanet verbundenen Rechnern zur Verfügung stand[…].</a:t>
            </a:r>
            <a:endParaRPr lang="de-DE" dirty="0"/>
          </a:p>
        </p:txBody>
      </p:sp>
      <p:sp>
        <p:nvSpPr>
          <p:cNvPr id="17" name="Textfeld 16">
            <a:extLst>
              <a:ext uri="{FF2B5EF4-FFF2-40B4-BE49-F238E27FC236}">
                <a16:creationId xmlns:a16="http://schemas.microsoft.com/office/drawing/2014/main" id="{D0224FFC-C1D3-875D-B09C-C54C4074D97A}"/>
              </a:ext>
            </a:extLst>
          </p:cNvPr>
          <p:cNvSpPr txBox="1"/>
          <p:nvPr/>
        </p:nvSpPr>
        <p:spPr>
          <a:xfrm>
            <a:off x="272563" y="5902851"/>
            <a:ext cx="5687560" cy="923330"/>
          </a:xfrm>
          <a:prstGeom prst="rect">
            <a:avLst/>
          </a:prstGeom>
          <a:noFill/>
        </p:spPr>
        <p:txBody>
          <a:bodyPr wrap="square" rtlCol="0">
            <a:spAutoFit/>
          </a:bodyPr>
          <a:lstStyle/>
          <a:p>
            <a:r>
              <a:rPr lang="de-DE" b="0" i="0" dirty="0">
                <a:effectLst/>
              </a:rPr>
              <a:t>Heute werden E-Mails meist per </a:t>
            </a:r>
            <a:r>
              <a:rPr lang="de-DE" b="0" i="0" u="none" strike="noStrike" dirty="0">
                <a:effectLst/>
              </a:rPr>
              <a:t>SMTP</a:t>
            </a:r>
            <a:r>
              <a:rPr lang="de-DE" b="0" i="0" dirty="0">
                <a:effectLst/>
              </a:rPr>
              <a:t> verschickt. Zum Abrufen der E-Mails vom Zielserver existieren verschiedene Protokolle, etwa </a:t>
            </a:r>
            <a:r>
              <a:rPr lang="de-DE" b="0" i="0" u="none" strike="noStrike" dirty="0">
                <a:effectLst/>
              </a:rPr>
              <a:t>POP3</a:t>
            </a:r>
            <a:r>
              <a:rPr lang="de-DE" b="0" i="0" dirty="0">
                <a:effectLst/>
              </a:rPr>
              <a:t>, </a:t>
            </a:r>
            <a:r>
              <a:rPr lang="de-DE" b="0" i="0" u="none" strike="noStrike" dirty="0">
                <a:effectLst/>
              </a:rPr>
              <a:t>IMAP</a:t>
            </a:r>
            <a:r>
              <a:rPr lang="de-DE" b="0" i="0" dirty="0">
                <a:effectLst/>
              </a:rPr>
              <a:t> oder </a:t>
            </a:r>
            <a:r>
              <a:rPr lang="de-DE" b="0" i="0" u="none" strike="noStrike" dirty="0">
                <a:effectLst/>
              </a:rPr>
              <a:t>Webmail</a:t>
            </a:r>
            <a:r>
              <a:rPr lang="de-DE" b="0" i="0" dirty="0">
                <a:effectLst/>
              </a:rPr>
              <a:t>.</a:t>
            </a:r>
            <a:endParaRPr lang="de-DE" dirty="0"/>
          </a:p>
        </p:txBody>
      </p:sp>
      <p:sp>
        <p:nvSpPr>
          <p:cNvPr id="21" name="Textfeld 20">
            <a:extLst>
              <a:ext uri="{FF2B5EF4-FFF2-40B4-BE49-F238E27FC236}">
                <a16:creationId xmlns:a16="http://schemas.microsoft.com/office/drawing/2014/main" id="{1C687233-D9A7-FFAA-63E6-A1F4EF2904E4}"/>
              </a:ext>
            </a:extLst>
          </p:cNvPr>
          <p:cNvSpPr txBox="1"/>
          <p:nvPr/>
        </p:nvSpPr>
        <p:spPr>
          <a:xfrm>
            <a:off x="4787938" y="3358635"/>
            <a:ext cx="1297150" cy="369332"/>
          </a:xfrm>
          <a:prstGeom prst="rect">
            <a:avLst/>
          </a:prstGeom>
          <a:noFill/>
        </p:spPr>
        <p:txBody>
          <a:bodyPr wrap="none" rtlCol="0">
            <a:spAutoFit/>
          </a:bodyPr>
          <a:lstStyle/>
          <a:p>
            <a:r>
              <a:rPr lang="de-DE" dirty="0">
                <a:solidFill>
                  <a:schemeClr val="accent1"/>
                </a:solidFill>
              </a:rPr>
              <a:t>1969 - 1989</a:t>
            </a:r>
          </a:p>
        </p:txBody>
      </p:sp>
      <p:sp>
        <p:nvSpPr>
          <p:cNvPr id="25" name="Textfeld 24">
            <a:extLst>
              <a:ext uri="{FF2B5EF4-FFF2-40B4-BE49-F238E27FC236}">
                <a16:creationId xmlns:a16="http://schemas.microsoft.com/office/drawing/2014/main" id="{4E8F4021-71B5-CDA5-7A11-0B50CA06E14A}"/>
              </a:ext>
            </a:extLst>
          </p:cNvPr>
          <p:cNvSpPr txBox="1"/>
          <p:nvPr/>
        </p:nvSpPr>
        <p:spPr>
          <a:xfrm>
            <a:off x="3359833" y="1609415"/>
            <a:ext cx="4131325" cy="1200329"/>
          </a:xfrm>
          <a:prstGeom prst="rect">
            <a:avLst/>
          </a:prstGeom>
          <a:noFill/>
        </p:spPr>
        <p:txBody>
          <a:bodyPr wrap="square" rtlCol="0">
            <a:spAutoFit/>
          </a:bodyPr>
          <a:lstStyle/>
          <a:p>
            <a:r>
              <a:rPr lang="de-DE" b="0" i="0" dirty="0">
                <a:effectLst/>
              </a:rPr>
              <a:t>Das Internet begann am 29. Oktober 1969 als </a:t>
            </a:r>
            <a:r>
              <a:rPr lang="de-DE" b="0" i="0" u="none" strike="noStrike" dirty="0">
                <a:effectLst/>
              </a:rPr>
              <a:t>Arpanet</a:t>
            </a:r>
            <a:r>
              <a:rPr lang="de-DE" b="0" i="0" dirty="0">
                <a:effectLst/>
              </a:rPr>
              <a:t>. Es wurde zur Vernetzung der </a:t>
            </a:r>
            <a:r>
              <a:rPr lang="de-DE" b="0" i="0" u="none" strike="noStrike" dirty="0">
                <a:effectLst/>
              </a:rPr>
              <a:t>Großrechner</a:t>
            </a:r>
            <a:r>
              <a:rPr lang="de-DE" b="0" i="0" dirty="0">
                <a:effectLst/>
              </a:rPr>
              <a:t> von Universitäten und Forschungseinrichtungen genutzt.</a:t>
            </a:r>
            <a:endParaRPr lang="de-DE" dirty="0"/>
          </a:p>
        </p:txBody>
      </p:sp>
      <p:sp>
        <p:nvSpPr>
          <p:cNvPr id="27" name="Textfeld 26">
            <a:extLst>
              <a:ext uri="{FF2B5EF4-FFF2-40B4-BE49-F238E27FC236}">
                <a16:creationId xmlns:a16="http://schemas.microsoft.com/office/drawing/2014/main" id="{C9C351ED-D152-AA6F-9537-B888A58D16E2}"/>
              </a:ext>
            </a:extLst>
          </p:cNvPr>
          <p:cNvSpPr txBox="1"/>
          <p:nvPr/>
        </p:nvSpPr>
        <p:spPr>
          <a:xfrm>
            <a:off x="4567702" y="3662512"/>
            <a:ext cx="4105475" cy="2308324"/>
          </a:xfrm>
          <a:prstGeom prst="rect">
            <a:avLst/>
          </a:prstGeom>
          <a:noFill/>
        </p:spPr>
        <p:txBody>
          <a:bodyPr wrap="square" rtlCol="0">
            <a:spAutoFit/>
          </a:bodyPr>
          <a:lstStyle/>
          <a:p>
            <a:r>
              <a:rPr lang="de-DE" b="0" i="0" dirty="0">
                <a:effectLst/>
              </a:rPr>
              <a:t>Im Jahr 1990 beschloss die </a:t>
            </a:r>
            <a:r>
              <a:rPr lang="de-DE" b="0" i="0" u="none" strike="noStrike" dirty="0">
                <a:effectLst/>
              </a:rPr>
              <a:t>National Science </a:t>
            </a:r>
            <a:r>
              <a:rPr lang="de-DE" b="0" i="0" u="none" strike="noStrike" dirty="0" err="1">
                <a:effectLst/>
              </a:rPr>
              <a:t>Foundation</a:t>
            </a:r>
            <a:r>
              <a:rPr lang="de-DE" b="0" i="0" dirty="0">
                <a:effectLst/>
              </a:rPr>
              <a:t> der USA, das Internet für kommerzielle Zwecke nutzbar zu machen, wodurch es über die Universitäten hinaus öffentlich zugänglich wurde. </a:t>
            </a:r>
            <a:r>
              <a:rPr lang="de-DE" b="0" i="0" u="none" strike="noStrike" dirty="0">
                <a:effectLst/>
              </a:rPr>
              <a:t>Tim Berners-Lee</a:t>
            </a:r>
            <a:r>
              <a:rPr lang="de-DE" b="0" i="0" dirty="0">
                <a:effectLst/>
              </a:rPr>
              <a:t> entwickelte um das Jahr 1989 am </a:t>
            </a:r>
            <a:r>
              <a:rPr lang="de-DE" b="0" i="0" u="none" strike="noStrike" dirty="0">
                <a:effectLst/>
              </a:rPr>
              <a:t>CERN</a:t>
            </a:r>
            <a:r>
              <a:rPr lang="de-DE" b="0" i="0" dirty="0">
                <a:effectLst/>
              </a:rPr>
              <a:t> die Grundlagen des </a:t>
            </a:r>
            <a:r>
              <a:rPr lang="de-DE" b="0" i="0" u="none" strike="noStrike" dirty="0">
                <a:effectLst/>
              </a:rPr>
              <a:t>World Wide Web</a:t>
            </a:r>
            <a:r>
              <a:rPr lang="de-DE" b="0" i="0" dirty="0">
                <a:effectLst/>
              </a:rPr>
              <a:t>.</a:t>
            </a:r>
            <a:endParaRPr lang="de-DE" dirty="0"/>
          </a:p>
        </p:txBody>
      </p:sp>
      <p:sp>
        <p:nvSpPr>
          <p:cNvPr id="37" name="Textfeld 36">
            <a:extLst>
              <a:ext uri="{FF2B5EF4-FFF2-40B4-BE49-F238E27FC236}">
                <a16:creationId xmlns:a16="http://schemas.microsoft.com/office/drawing/2014/main" id="{2BF71324-8EBD-742F-03E7-761CC6F4CD30}"/>
              </a:ext>
            </a:extLst>
          </p:cNvPr>
          <p:cNvSpPr txBox="1"/>
          <p:nvPr/>
        </p:nvSpPr>
        <p:spPr>
          <a:xfrm>
            <a:off x="8918529" y="1028801"/>
            <a:ext cx="3332796" cy="5632311"/>
          </a:xfrm>
          <a:prstGeom prst="rect">
            <a:avLst/>
          </a:prstGeom>
          <a:noFill/>
        </p:spPr>
        <p:txBody>
          <a:bodyPr wrap="square" rtlCol="0">
            <a:spAutoFit/>
          </a:bodyPr>
          <a:lstStyle/>
          <a:p>
            <a:r>
              <a:rPr lang="de-DE" b="0" i="0" dirty="0">
                <a:effectLst/>
              </a:rPr>
              <a:t>Die moderne </a:t>
            </a:r>
            <a:r>
              <a:rPr lang="de-DE" b="0" i="0" u="none" strike="noStrike" dirty="0">
                <a:effectLst/>
              </a:rPr>
              <a:t>Computertechnologie </a:t>
            </a:r>
            <a:r>
              <a:rPr lang="de-DE" b="0" i="0" dirty="0">
                <a:effectLst/>
              </a:rPr>
              <a:t>entwickelte sich im Vergleich zu anderen Elektrogeräten der Neuzeit sehr schnell. Die Geschichte der Entwicklung des </a:t>
            </a:r>
            <a:r>
              <a:rPr lang="de-DE" b="0" i="0" u="none" strike="noStrike" dirty="0">
                <a:effectLst/>
              </a:rPr>
              <a:t>Computers</a:t>
            </a:r>
            <a:r>
              <a:rPr lang="de-DE" b="0" i="0" dirty="0">
                <a:effectLst/>
              </a:rPr>
              <a:t> an sich jedoch reicht zurück bis in die Antike und umfasst deutlich mehr, als nur die modernen Computertechnologien oder mechanischen bzw. elektrischen Hilfsmittel (</a:t>
            </a:r>
            <a:r>
              <a:rPr lang="de-DE" b="0" i="0" u="none" strike="noStrike" dirty="0">
                <a:effectLst/>
              </a:rPr>
              <a:t>Rechenmaschinen</a:t>
            </a:r>
            <a:r>
              <a:rPr lang="de-DE" b="0" i="0" dirty="0">
                <a:effectLst/>
              </a:rPr>
              <a:t> oder </a:t>
            </a:r>
            <a:r>
              <a:rPr lang="de-DE" b="0" i="0" u="none" strike="noStrike" dirty="0">
                <a:effectLst/>
                <a:hlinkClick r:id="rId6" tooltip="Hardware">
                  <a:extLst>
                    <a:ext uri="{A12FA001-AC4F-418D-AE19-62706E023703}">
                      <ahyp:hlinkClr xmlns:ahyp="http://schemas.microsoft.com/office/drawing/2018/hyperlinkcolor" val="tx"/>
                    </a:ext>
                  </a:extLst>
                </a:hlinkClick>
              </a:rPr>
              <a:t>H</a:t>
            </a:r>
            <a:r>
              <a:rPr lang="de-DE" b="0" i="0" u="none" strike="noStrike" dirty="0">
                <a:effectLst/>
              </a:rPr>
              <a:t>ardware</a:t>
            </a:r>
            <a:r>
              <a:rPr lang="de-DE" b="0" i="0" dirty="0">
                <a:effectLst/>
              </a:rPr>
              <a:t>). Sie umfasst z. B. auch die Entwicklung von </a:t>
            </a:r>
            <a:r>
              <a:rPr lang="de-DE" b="0" i="0" u="none" strike="noStrike" dirty="0">
                <a:effectLst/>
              </a:rPr>
              <a:t>Zahlensystemen</a:t>
            </a:r>
            <a:r>
              <a:rPr lang="de-DE" b="0" i="0" dirty="0">
                <a:effectLst/>
              </a:rPr>
              <a:t> und Rechenmethoden, die etwa für einfache Schreibgeräte auf Papier und Tafeln entwickelt wurden.</a:t>
            </a:r>
            <a:endParaRPr lang="de-DE" dirty="0"/>
          </a:p>
        </p:txBody>
      </p:sp>
    </p:spTree>
    <p:extLst>
      <p:ext uri="{BB962C8B-B14F-4D97-AF65-F5344CB8AC3E}">
        <p14:creationId xmlns:p14="http://schemas.microsoft.com/office/powerpoint/2010/main" val="433434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fontScale="90000"/>
          </a:bodyPr>
          <a:lstStyle/>
          <a:p>
            <a:r>
              <a:rPr lang="de-DE" dirty="0"/>
              <a:t>Informationstechnologie – Historische Übersicht</a:t>
            </a:r>
            <a:br>
              <a:rPr lang="de-DE" dirty="0"/>
            </a:br>
            <a:r>
              <a:rPr lang="de-DE" sz="2200" dirty="0"/>
              <a:t>Die Welt der Nullen und Einsen</a:t>
            </a:r>
            <a:endParaRPr lang="de-DE" dirty="0"/>
          </a:p>
        </p:txBody>
      </p:sp>
      <p:pic>
        <p:nvPicPr>
          <p:cNvPr id="5" name="Grafik 4">
            <a:extLst>
              <a:ext uri="{FF2B5EF4-FFF2-40B4-BE49-F238E27FC236}">
                <a16:creationId xmlns:a16="http://schemas.microsoft.com/office/drawing/2014/main" id="{99F1FE92-6196-61F8-F29A-8ED3D0D32566}"/>
              </a:ext>
            </a:extLst>
          </p:cNvPr>
          <p:cNvPicPr>
            <a:picLocks noChangeAspect="1"/>
          </p:cNvPicPr>
          <p:nvPr/>
        </p:nvPicPr>
        <p:blipFill>
          <a:blip r:embed="rId3"/>
          <a:stretch>
            <a:fillRect/>
          </a:stretch>
        </p:blipFill>
        <p:spPr>
          <a:xfrm>
            <a:off x="838200" y="1552575"/>
            <a:ext cx="2419350" cy="1876425"/>
          </a:xfrm>
          <a:prstGeom prst="rect">
            <a:avLst/>
          </a:prstGeom>
        </p:spPr>
      </p:pic>
      <p:pic>
        <p:nvPicPr>
          <p:cNvPr id="14" name="Grafik 13">
            <a:extLst>
              <a:ext uri="{FF2B5EF4-FFF2-40B4-BE49-F238E27FC236}">
                <a16:creationId xmlns:a16="http://schemas.microsoft.com/office/drawing/2014/main" id="{83016896-6B15-C91A-AFEB-5F2FF6A36A62}"/>
              </a:ext>
            </a:extLst>
          </p:cNvPr>
          <p:cNvPicPr>
            <a:picLocks noChangeAspect="1"/>
          </p:cNvPicPr>
          <p:nvPr/>
        </p:nvPicPr>
        <p:blipFill>
          <a:blip r:embed="rId4"/>
          <a:stretch>
            <a:fillRect/>
          </a:stretch>
        </p:blipFill>
        <p:spPr>
          <a:xfrm>
            <a:off x="3465149" y="1685925"/>
            <a:ext cx="2419350" cy="1743075"/>
          </a:xfrm>
          <a:prstGeom prst="rect">
            <a:avLst/>
          </a:prstGeom>
        </p:spPr>
      </p:pic>
      <p:pic>
        <p:nvPicPr>
          <p:cNvPr id="18" name="Grafik 17">
            <a:extLst>
              <a:ext uri="{FF2B5EF4-FFF2-40B4-BE49-F238E27FC236}">
                <a16:creationId xmlns:a16="http://schemas.microsoft.com/office/drawing/2014/main" id="{149E623C-F92F-A6EC-3989-378A59D1DAFC}"/>
              </a:ext>
            </a:extLst>
          </p:cNvPr>
          <p:cNvPicPr>
            <a:picLocks noChangeAspect="1"/>
          </p:cNvPicPr>
          <p:nvPr/>
        </p:nvPicPr>
        <p:blipFill>
          <a:blip r:embed="rId5"/>
          <a:stretch>
            <a:fillRect/>
          </a:stretch>
        </p:blipFill>
        <p:spPr>
          <a:xfrm>
            <a:off x="6092098" y="1788319"/>
            <a:ext cx="2409825" cy="1543050"/>
          </a:xfrm>
          <a:prstGeom prst="rect">
            <a:avLst/>
          </a:prstGeom>
        </p:spPr>
      </p:pic>
      <p:pic>
        <p:nvPicPr>
          <p:cNvPr id="22" name="Grafik 21">
            <a:extLst>
              <a:ext uri="{FF2B5EF4-FFF2-40B4-BE49-F238E27FC236}">
                <a16:creationId xmlns:a16="http://schemas.microsoft.com/office/drawing/2014/main" id="{2C093C6B-BBE1-6840-1112-5B99F4D69062}"/>
              </a:ext>
            </a:extLst>
          </p:cNvPr>
          <p:cNvPicPr>
            <a:picLocks noChangeAspect="1"/>
          </p:cNvPicPr>
          <p:nvPr/>
        </p:nvPicPr>
        <p:blipFill>
          <a:blip r:embed="rId6"/>
          <a:stretch>
            <a:fillRect/>
          </a:stretch>
        </p:blipFill>
        <p:spPr>
          <a:xfrm>
            <a:off x="8709522" y="1629090"/>
            <a:ext cx="2438400" cy="1724025"/>
          </a:xfrm>
          <a:prstGeom prst="rect">
            <a:avLst/>
          </a:prstGeom>
        </p:spPr>
      </p:pic>
      <p:pic>
        <p:nvPicPr>
          <p:cNvPr id="24" name="Grafik 23">
            <a:extLst>
              <a:ext uri="{FF2B5EF4-FFF2-40B4-BE49-F238E27FC236}">
                <a16:creationId xmlns:a16="http://schemas.microsoft.com/office/drawing/2014/main" id="{70F40C8A-3697-B746-D8F6-05646ED4E896}"/>
              </a:ext>
            </a:extLst>
          </p:cNvPr>
          <p:cNvPicPr>
            <a:picLocks noChangeAspect="1"/>
          </p:cNvPicPr>
          <p:nvPr/>
        </p:nvPicPr>
        <p:blipFill>
          <a:blip r:embed="rId7"/>
          <a:stretch>
            <a:fillRect/>
          </a:stretch>
        </p:blipFill>
        <p:spPr>
          <a:xfrm>
            <a:off x="847725" y="4020583"/>
            <a:ext cx="2409825" cy="1504950"/>
          </a:xfrm>
          <a:prstGeom prst="rect">
            <a:avLst/>
          </a:prstGeom>
        </p:spPr>
      </p:pic>
      <p:pic>
        <p:nvPicPr>
          <p:cNvPr id="28" name="Grafik 27">
            <a:extLst>
              <a:ext uri="{FF2B5EF4-FFF2-40B4-BE49-F238E27FC236}">
                <a16:creationId xmlns:a16="http://schemas.microsoft.com/office/drawing/2014/main" id="{2CA9ED87-A412-3192-D4C8-B14D9DDCBCD9}"/>
              </a:ext>
            </a:extLst>
          </p:cNvPr>
          <p:cNvPicPr>
            <a:picLocks noChangeAspect="1"/>
          </p:cNvPicPr>
          <p:nvPr/>
        </p:nvPicPr>
        <p:blipFill>
          <a:blip r:embed="rId8"/>
          <a:stretch>
            <a:fillRect/>
          </a:stretch>
        </p:blipFill>
        <p:spPr>
          <a:xfrm>
            <a:off x="3465149" y="3930095"/>
            <a:ext cx="2419350" cy="1685925"/>
          </a:xfrm>
          <a:prstGeom prst="rect">
            <a:avLst/>
          </a:prstGeom>
        </p:spPr>
      </p:pic>
      <p:pic>
        <p:nvPicPr>
          <p:cNvPr id="31" name="Grafik 30">
            <a:extLst>
              <a:ext uri="{FF2B5EF4-FFF2-40B4-BE49-F238E27FC236}">
                <a16:creationId xmlns:a16="http://schemas.microsoft.com/office/drawing/2014/main" id="{94633BE1-D8FE-86E4-9026-6082EA5AA0E5}"/>
              </a:ext>
            </a:extLst>
          </p:cNvPr>
          <p:cNvPicPr>
            <a:picLocks noChangeAspect="1"/>
          </p:cNvPicPr>
          <p:nvPr/>
        </p:nvPicPr>
        <p:blipFill>
          <a:blip r:embed="rId9"/>
          <a:stretch>
            <a:fillRect/>
          </a:stretch>
        </p:blipFill>
        <p:spPr>
          <a:xfrm>
            <a:off x="6073048" y="3677682"/>
            <a:ext cx="2428875" cy="2190750"/>
          </a:xfrm>
          <a:prstGeom prst="rect">
            <a:avLst/>
          </a:prstGeom>
        </p:spPr>
      </p:pic>
      <p:pic>
        <p:nvPicPr>
          <p:cNvPr id="33" name="Grafik 32">
            <a:extLst>
              <a:ext uri="{FF2B5EF4-FFF2-40B4-BE49-F238E27FC236}">
                <a16:creationId xmlns:a16="http://schemas.microsoft.com/office/drawing/2014/main" id="{85A050BD-13D9-51B4-5B84-01B2B2FA667D}"/>
              </a:ext>
            </a:extLst>
          </p:cNvPr>
          <p:cNvPicPr>
            <a:picLocks noChangeAspect="1"/>
          </p:cNvPicPr>
          <p:nvPr/>
        </p:nvPicPr>
        <p:blipFill>
          <a:blip r:embed="rId10"/>
          <a:stretch>
            <a:fillRect/>
          </a:stretch>
        </p:blipFill>
        <p:spPr>
          <a:xfrm>
            <a:off x="8738097" y="3825319"/>
            <a:ext cx="2409825" cy="1895475"/>
          </a:xfrm>
          <a:prstGeom prst="rect">
            <a:avLst/>
          </a:prstGeom>
        </p:spPr>
      </p:pic>
    </p:spTree>
    <p:extLst>
      <p:ext uri="{BB962C8B-B14F-4D97-AF65-F5344CB8AC3E}">
        <p14:creationId xmlns:p14="http://schemas.microsoft.com/office/powerpoint/2010/main" val="2923853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a:bodyPr>
          <a:lstStyle/>
          <a:p>
            <a:r>
              <a:rPr lang="de-DE" dirty="0"/>
              <a:t>Informationstechnologie – Bits und Bytes</a:t>
            </a:r>
            <a:br>
              <a:rPr lang="de-DE" dirty="0"/>
            </a:br>
            <a:r>
              <a:rPr lang="de-DE" sz="2200" dirty="0"/>
              <a:t>Die Welt der Nullen und Einsen</a:t>
            </a:r>
            <a:endParaRPr lang="de-DE" dirty="0"/>
          </a:p>
        </p:txBody>
      </p:sp>
      <p:pic>
        <p:nvPicPr>
          <p:cNvPr id="4" name="Grafik 3">
            <a:extLst>
              <a:ext uri="{FF2B5EF4-FFF2-40B4-BE49-F238E27FC236}">
                <a16:creationId xmlns:a16="http://schemas.microsoft.com/office/drawing/2014/main" id="{946A3419-541B-3676-6B27-831A665F6BBD}"/>
              </a:ext>
            </a:extLst>
          </p:cNvPr>
          <p:cNvPicPr>
            <a:picLocks noChangeAspect="1"/>
          </p:cNvPicPr>
          <p:nvPr/>
        </p:nvPicPr>
        <p:blipFill>
          <a:blip r:embed="rId3"/>
          <a:stretch>
            <a:fillRect/>
          </a:stretch>
        </p:blipFill>
        <p:spPr>
          <a:xfrm>
            <a:off x="838200" y="2681632"/>
            <a:ext cx="7372350" cy="3609975"/>
          </a:xfrm>
          <a:prstGeom prst="rect">
            <a:avLst/>
          </a:prstGeom>
        </p:spPr>
      </p:pic>
      <p:sp>
        <p:nvSpPr>
          <p:cNvPr id="6" name="Textfeld 5">
            <a:extLst>
              <a:ext uri="{FF2B5EF4-FFF2-40B4-BE49-F238E27FC236}">
                <a16:creationId xmlns:a16="http://schemas.microsoft.com/office/drawing/2014/main" id="{E778DB73-D7BE-0BE0-EFC2-A664BB3E27DC}"/>
              </a:ext>
            </a:extLst>
          </p:cNvPr>
          <p:cNvSpPr txBox="1"/>
          <p:nvPr/>
        </p:nvSpPr>
        <p:spPr>
          <a:xfrm>
            <a:off x="838201" y="1938969"/>
            <a:ext cx="10757054" cy="646331"/>
          </a:xfrm>
          <a:prstGeom prst="rect">
            <a:avLst/>
          </a:prstGeom>
          <a:noFill/>
        </p:spPr>
        <p:txBody>
          <a:bodyPr wrap="square" rtlCol="0">
            <a:spAutoFit/>
          </a:bodyPr>
          <a:lstStyle/>
          <a:p>
            <a:r>
              <a:rPr lang="de-DE" b="1" dirty="0"/>
              <a:t>Bit</a:t>
            </a:r>
            <a:r>
              <a:rPr lang="de-DE" dirty="0"/>
              <a:t> ist die kurze Schreibweise für </a:t>
            </a:r>
            <a:r>
              <a:rPr lang="de-DE" dirty="0" err="1"/>
              <a:t>binary</a:t>
            </a:r>
            <a:r>
              <a:rPr lang="de-DE" dirty="0"/>
              <a:t> </a:t>
            </a:r>
            <a:r>
              <a:rPr lang="de-DE" dirty="0" err="1"/>
              <a:t>digit</a:t>
            </a:r>
            <a:r>
              <a:rPr lang="de-DE" dirty="0"/>
              <a:t> (duale Ziffer) und ist die </a:t>
            </a:r>
            <a:r>
              <a:rPr lang="de-DE" b="1" dirty="0"/>
              <a:t>kleinstmögliche duale/binäre Informationsgröße</a:t>
            </a:r>
            <a:r>
              <a:rPr lang="de-DE" dirty="0"/>
              <a:t>.  </a:t>
            </a:r>
          </a:p>
        </p:txBody>
      </p:sp>
      <p:pic>
        <p:nvPicPr>
          <p:cNvPr id="8" name="Grafik 7">
            <a:extLst>
              <a:ext uri="{FF2B5EF4-FFF2-40B4-BE49-F238E27FC236}">
                <a16:creationId xmlns:a16="http://schemas.microsoft.com/office/drawing/2014/main" id="{178A6B3E-234C-9559-C17F-FD4F7B747C42}"/>
              </a:ext>
            </a:extLst>
          </p:cNvPr>
          <p:cNvPicPr>
            <a:picLocks noChangeAspect="1"/>
          </p:cNvPicPr>
          <p:nvPr/>
        </p:nvPicPr>
        <p:blipFill>
          <a:blip r:embed="rId4"/>
          <a:stretch>
            <a:fillRect/>
          </a:stretch>
        </p:blipFill>
        <p:spPr>
          <a:xfrm>
            <a:off x="9363075" y="2514944"/>
            <a:ext cx="1990725" cy="3943350"/>
          </a:xfrm>
          <a:prstGeom prst="rect">
            <a:avLst/>
          </a:prstGeom>
        </p:spPr>
      </p:pic>
      <p:pic>
        <p:nvPicPr>
          <p:cNvPr id="10" name="Grafik 9">
            <a:extLst>
              <a:ext uri="{FF2B5EF4-FFF2-40B4-BE49-F238E27FC236}">
                <a16:creationId xmlns:a16="http://schemas.microsoft.com/office/drawing/2014/main" id="{7FA6B61F-7982-F7C3-ABFC-EF6825BAA73A}"/>
              </a:ext>
            </a:extLst>
          </p:cNvPr>
          <p:cNvPicPr>
            <a:picLocks noChangeAspect="1"/>
          </p:cNvPicPr>
          <p:nvPr/>
        </p:nvPicPr>
        <p:blipFill>
          <a:blip r:embed="rId5"/>
          <a:stretch>
            <a:fillRect/>
          </a:stretch>
        </p:blipFill>
        <p:spPr>
          <a:xfrm>
            <a:off x="7100887" y="4169481"/>
            <a:ext cx="2219325" cy="2343150"/>
          </a:xfrm>
          <a:prstGeom prst="rect">
            <a:avLst/>
          </a:prstGeom>
        </p:spPr>
      </p:pic>
    </p:spTree>
    <p:extLst>
      <p:ext uri="{BB962C8B-B14F-4D97-AF65-F5344CB8AC3E}">
        <p14:creationId xmlns:p14="http://schemas.microsoft.com/office/powerpoint/2010/main" val="3052731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a:bodyPr>
          <a:lstStyle/>
          <a:p>
            <a:r>
              <a:rPr lang="de-DE" dirty="0"/>
              <a:t>Informationstechnologie – Bits und Bytes</a:t>
            </a:r>
            <a:br>
              <a:rPr lang="de-DE" dirty="0"/>
            </a:br>
            <a:r>
              <a:rPr lang="de-DE" sz="2200" dirty="0"/>
              <a:t>Die Welt der Nullen und Einsen</a:t>
            </a:r>
            <a:endParaRPr lang="de-DE" dirty="0"/>
          </a:p>
        </p:txBody>
      </p:sp>
      <p:sp>
        <p:nvSpPr>
          <p:cNvPr id="6" name="Textfeld 5">
            <a:extLst>
              <a:ext uri="{FF2B5EF4-FFF2-40B4-BE49-F238E27FC236}">
                <a16:creationId xmlns:a16="http://schemas.microsoft.com/office/drawing/2014/main" id="{E778DB73-D7BE-0BE0-EFC2-A664BB3E27DC}"/>
              </a:ext>
            </a:extLst>
          </p:cNvPr>
          <p:cNvSpPr txBox="1"/>
          <p:nvPr/>
        </p:nvSpPr>
        <p:spPr>
          <a:xfrm>
            <a:off x="838200" y="1690688"/>
            <a:ext cx="10757054" cy="646331"/>
          </a:xfrm>
          <a:prstGeom prst="rect">
            <a:avLst/>
          </a:prstGeom>
          <a:noFill/>
        </p:spPr>
        <p:txBody>
          <a:bodyPr wrap="square" rtlCol="0">
            <a:spAutoFit/>
          </a:bodyPr>
          <a:lstStyle/>
          <a:p>
            <a:r>
              <a:rPr lang="de-DE" dirty="0"/>
              <a:t>Während Bits meistens für Angaben zur Datennutzung und Datenübertragungsgeschwindigkeit verwendet werden, werden Bytes für die Datenspeicherung angegeben. </a:t>
            </a:r>
            <a:r>
              <a:rPr lang="de-DE" b="1" dirty="0"/>
              <a:t>Ein Byte</a:t>
            </a:r>
            <a:r>
              <a:rPr lang="de-DE" dirty="0"/>
              <a:t> besteht aus acht Bits (2</a:t>
            </a:r>
            <a:r>
              <a:rPr lang="de-DE" baseline="30000" dirty="0"/>
              <a:t>3</a:t>
            </a:r>
            <a:r>
              <a:rPr lang="de-DE" dirty="0"/>
              <a:t>).</a:t>
            </a:r>
          </a:p>
        </p:txBody>
      </p:sp>
      <p:pic>
        <p:nvPicPr>
          <p:cNvPr id="5" name="Grafik 4">
            <a:extLst>
              <a:ext uri="{FF2B5EF4-FFF2-40B4-BE49-F238E27FC236}">
                <a16:creationId xmlns:a16="http://schemas.microsoft.com/office/drawing/2014/main" id="{5571768F-CCCB-EF25-58D7-BE1E66CFF5D7}"/>
              </a:ext>
            </a:extLst>
          </p:cNvPr>
          <p:cNvPicPr>
            <a:picLocks noChangeAspect="1"/>
          </p:cNvPicPr>
          <p:nvPr/>
        </p:nvPicPr>
        <p:blipFill>
          <a:blip r:embed="rId3"/>
          <a:stretch>
            <a:fillRect/>
          </a:stretch>
        </p:blipFill>
        <p:spPr>
          <a:xfrm>
            <a:off x="2844800" y="2353722"/>
            <a:ext cx="6050843" cy="4433056"/>
          </a:xfrm>
          <a:prstGeom prst="rect">
            <a:avLst/>
          </a:prstGeom>
        </p:spPr>
      </p:pic>
    </p:spTree>
    <p:extLst>
      <p:ext uri="{BB962C8B-B14F-4D97-AF65-F5344CB8AC3E}">
        <p14:creationId xmlns:p14="http://schemas.microsoft.com/office/powerpoint/2010/main" val="3806691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a:bodyPr>
          <a:lstStyle/>
          <a:p>
            <a:r>
              <a:rPr lang="de-DE" dirty="0"/>
              <a:t>Informationstechnologie – Algorithmen</a:t>
            </a:r>
            <a:br>
              <a:rPr lang="de-DE" dirty="0"/>
            </a:br>
            <a:r>
              <a:rPr lang="de-DE" sz="2200" dirty="0"/>
              <a:t>Die Welt der Nullen und Einsen</a:t>
            </a:r>
            <a:endParaRPr lang="de-DE" dirty="0"/>
          </a:p>
        </p:txBody>
      </p:sp>
      <p:sp>
        <p:nvSpPr>
          <p:cNvPr id="3" name="Textfeld 2">
            <a:extLst>
              <a:ext uri="{FF2B5EF4-FFF2-40B4-BE49-F238E27FC236}">
                <a16:creationId xmlns:a16="http://schemas.microsoft.com/office/drawing/2014/main" id="{709593A5-39C1-D6DF-37A0-CCB5CF200BEE}"/>
              </a:ext>
            </a:extLst>
          </p:cNvPr>
          <p:cNvSpPr txBox="1"/>
          <p:nvPr/>
        </p:nvSpPr>
        <p:spPr>
          <a:xfrm>
            <a:off x="3371161" y="4241494"/>
            <a:ext cx="7982639" cy="369332"/>
          </a:xfrm>
          <a:prstGeom prst="rect">
            <a:avLst/>
          </a:prstGeom>
          <a:noFill/>
        </p:spPr>
        <p:txBody>
          <a:bodyPr wrap="square" rtlCol="0">
            <a:spAutoFit/>
          </a:bodyPr>
          <a:lstStyle/>
          <a:p>
            <a:endParaRPr lang="de-DE" dirty="0"/>
          </a:p>
        </p:txBody>
      </p:sp>
      <p:sp>
        <p:nvSpPr>
          <p:cNvPr id="11" name="Textfeld 10">
            <a:extLst>
              <a:ext uri="{FF2B5EF4-FFF2-40B4-BE49-F238E27FC236}">
                <a16:creationId xmlns:a16="http://schemas.microsoft.com/office/drawing/2014/main" id="{DDA71985-79DB-B29E-D4F3-22D775C2ADBF}"/>
              </a:ext>
            </a:extLst>
          </p:cNvPr>
          <p:cNvSpPr txBox="1"/>
          <p:nvPr/>
        </p:nvSpPr>
        <p:spPr>
          <a:xfrm>
            <a:off x="838200" y="1690688"/>
            <a:ext cx="8135344" cy="2585323"/>
          </a:xfrm>
          <a:prstGeom prst="rect">
            <a:avLst/>
          </a:prstGeom>
          <a:noFill/>
        </p:spPr>
        <p:txBody>
          <a:bodyPr wrap="square" rtlCol="0">
            <a:spAutoFit/>
          </a:bodyPr>
          <a:lstStyle/>
          <a:p>
            <a:r>
              <a:rPr lang="de-DE" b="0" i="0" dirty="0">
                <a:effectLst/>
              </a:rPr>
              <a:t>Ein </a:t>
            </a:r>
            <a:r>
              <a:rPr lang="de-DE" b="1" i="0" dirty="0">
                <a:effectLst/>
              </a:rPr>
              <a:t>Algorithmus</a:t>
            </a:r>
            <a:r>
              <a:rPr lang="de-DE" b="0" i="0" dirty="0">
                <a:effectLst/>
              </a:rPr>
              <a:t> ist eine eindeutige Handlungsvorschrift zur Lösung eines </a:t>
            </a:r>
            <a:r>
              <a:rPr lang="de-DE" b="0" i="0" u="none" strike="noStrike" dirty="0">
                <a:effectLst/>
              </a:rPr>
              <a:t>Problems</a:t>
            </a:r>
            <a:r>
              <a:rPr lang="de-DE" b="0" i="0" dirty="0">
                <a:effectLst/>
              </a:rPr>
              <a:t> oder einer Klasse von Problemen.</a:t>
            </a:r>
          </a:p>
          <a:p>
            <a:endParaRPr lang="de-DE" b="0" i="0" dirty="0">
              <a:effectLst/>
            </a:endParaRPr>
          </a:p>
          <a:p>
            <a:r>
              <a:rPr lang="de-DE" b="0" i="0" dirty="0">
                <a:effectLst/>
              </a:rPr>
              <a:t>Algorithmen bestehen aus endlich vielen, </a:t>
            </a:r>
            <a:r>
              <a:rPr lang="de-DE" b="0" i="0" u="none" strike="noStrike" dirty="0">
                <a:effectLst/>
              </a:rPr>
              <a:t>wohldefinierten</a:t>
            </a:r>
            <a:r>
              <a:rPr lang="de-DE" b="0" i="0" dirty="0">
                <a:effectLst/>
              </a:rPr>
              <a:t> Einzelschritten. Damit können sie zur Ausführung in ein </a:t>
            </a:r>
            <a:r>
              <a:rPr lang="de-DE" b="0" i="0" u="none" strike="noStrike" dirty="0">
                <a:effectLst/>
              </a:rPr>
              <a:t>Computerprogramm</a:t>
            </a:r>
            <a:r>
              <a:rPr lang="de-DE" b="0" i="0" dirty="0">
                <a:effectLst/>
              </a:rPr>
              <a:t> </a:t>
            </a:r>
            <a:r>
              <a:rPr lang="de-DE" b="0" i="0" u="none" strike="noStrike" dirty="0">
                <a:effectLst/>
              </a:rPr>
              <a:t>implementiert</a:t>
            </a:r>
            <a:r>
              <a:rPr lang="de-DE" b="0" i="0" dirty="0">
                <a:effectLst/>
              </a:rPr>
              <a:t>, aber auch in </a:t>
            </a:r>
            <a:r>
              <a:rPr lang="de-DE" b="0" i="0" u="none" strike="noStrike" dirty="0">
                <a:effectLst/>
              </a:rPr>
              <a:t>menschlicher Sprache</a:t>
            </a:r>
            <a:r>
              <a:rPr lang="de-DE" b="0" i="0" dirty="0">
                <a:effectLst/>
              </a:rPr>
              <a:t> formuliert werden.</a:t>
            </a:r>
          </a:p>
          <a:p>
            <a:r>
              <a:rPr lang="de-DE" b="0" i="0" dirty="0">
                <a:effectLst/>
              </a:rPr>
              <a:t> </a:t>
            </a:r>
          </a:p>
          <a:p>
            <a:r>
              <a:rPr lang="de-DE" b="0" i="0" dirty="0">
                <a:effectLst/>
              </a:rPr>
              <a:t>Bei der </a:t>
            </a:r>
            <a:r>
              <a:rPr lang="de-DE" b="0" i="0" u="none" strike="noStrike" dirty="0">
                <a:effectLst/>
              </a:rPr>
              <a:t>Problemlösung</a:t>
            </a:r>
            <a:r>
              <a:rPr lang="de-DE" b="0" i="0" dirty="0">
                <a:effectLst/>
              </a:rPr>
              <a:t> wird eine bestimmte Eingabe in eine bestimmte Ausgabe überführt.</a:t>
            </a:r>
            <a:endParaRPr lang="de-DE" dirty="0"/>
          </a:p>
        </p:txBody>
      </p:sp>
      <p:sp>
        <p:nvSpPr>
          <p:cNvPr id="12" name="Textfeld 11">
            <a:extLst>
              <a:ext uri="{FF2B5EF4-FFF2-40B4-BE49-F238E27FC236}">
                <a16:creationId xmlns:a16="http://schemas.microsoft.com/office/drawing/2014/main" id="{1E8258B4-856D-D72C-800F-E4B5461B5D22}"/>
              </a:ext>
            </a:extLst>
          </p:cNvPr>
          <p:cNvSpPr txBox="1"/>
          <p:nvPr/>
        </p:nvSpPr>
        <p:spPr>
          <a:xfrm>
            <a:off x="8703325" y="1690687"/>
            <a:ext cx="3233111" cy="2308324"/>
          </a:xfrm>
          <a:prstGeom prst="rect">
            <a:avLst/>
          </a:prstGeom>
          <a:noFill/>
        </p:spPr>
        <p:txBody>
          <a:bodyPr wrap="square" rtlCol="0">
            <a:spAutoFit/>
          </a:bodyPr>
          <a:lstStyle/>
          <a:p>
            <a:r>
              <a:rPr lang="de-DE" b="0" i="0" dirty="0">
                <a:solidFill>
                  <a:srgbClr val="202122"/>
                </a:solidFill>
                <a:effectLst/>
              </a:rPr>
              <a:t>„Eine Berechnungsvorschrift zur Lösung eines Problems heißt genau dann Algorithmus, wenn eine zu dieser Berechnungsvorschrift äquivalente Turingmaschine existiert, die für jede Eingabe, die eine Lösung besitzt, stoppt.“</a:t>
            </a:r>
            <a:endParaRPr lang="de-DE" dirty="0"/>
          </a:p>
        </p:txBody>
      </p:sp>
      <p:sp>
        <p:nvSpPr>
          <p:cNvPr id="13" name="Textfeld 12">
            <a:extLst>
              <a:ext uri="{FF2B5EF4-FFF2-40B4-BE49-F238E27FC236}">
                <a16:creationId xmlns:a16="http://schemas.microsoft.com/office/drawing/2014/main" id="{59933C37-3215-25D0-C4DE-47BF38F40562}"/>
              </a:ext>
            </a:extLst>
          </p:cNvPr>
          <p:cNvSpPr txBox="1"/>
          <p:nvPr/>
        </p:nvSpPr>
        <p:spPr>
          <a:xfrm>
            <a:off x="415241" y="4301981"/>
            <a:ext cx="11508856" cy="2585323"/>
          </a:xfrm>
          <a:prstGeom prst="rect">
            <a:avLst/>
          </a:prstGeom>
          <a:noFill/>
        </p:spPr>
        <p:txBody>
          <a:bodyPr wrap="square" rtlCol="0">
            <a:spAutoFit/>
          </a:bodyPr>
          <a:lstStyle/>
          <a:p>
            <a:pPr algn="l"/>
            <a:r>
              <a:rPr lang="de-DE" b="0" i="0" dirty="0">
                <a:solidFill>
                  <a:srgbClr val="202122"/>
                </a:solidFill>
                <a:effectLst/>
              </a:rPr>
              <a:t>Aus dieser Definition sind folgende Eigenschaften eines Algorithmus ableitbar:</a:t>
            </a:r>
          </a:p>
          <a:p>
            <a:pPr lvl="1">
              <a:buFont typeface="+mj-lt"/>
              <a:buAutoNum type="arabicPeriod"/>
            </a:pPr>
            <a:r>
              <a:rPr lang="de-DE" b="0" i="0" dirty="0">
                <a:solidFill>
                  <a:srgbClr val="202122"/>
                </a:solidFill>
                <a:effectLst/>
              </a:rPr>
              <a:t>Das Verfahren muss in einem endlichen Text eindeutig beschreibbar sein (</a:t>
            </a:r>
            <a:r>
              <a:rPr lang="de-DE" b="1" i="0" dirty="0" err="1">
                <a:effectLst/>
              </a:rPr>
              <a:t>Finitheit</a:t>
            </a:r>
            <a:r>
              <a:rPr lang="de-DE" b="0" i="0" dirty="0">
                <a:solidFill>
                  <a:srgbClr val="202122"/>
                </a:solidFill>
                <a:effectLst/>
              </a:rPr>
              <a:t>).</a:t>
            </a:r>
          </a:p>
          <a:p>
            <a:pPr lvl="1">
              <a:buFont typeface="+mj-lt"/>
              <a:buAutoNum type="arabicPeriod"/>
            </a:pPr>
            <a:r>
              <a:rPr lang="de-DE" b="0" i="0" dirty="0">
                <a:solidFill>
                  <a:srgbClr val="202122"/>
                </a:solidFill>
                <a:effectLst/>
              </a:rPr>
              <a:t>Jeder Schritt des Verfahrens muss tatsächlich ausführbar sein (</a:t>
            </a:r>
            <a:r>
              <a:rPr lang="de-DE" b="1" i="0" dirty="0">
                <a:effectLst/>
              </a:rPr>
              <a:t>Ausführbarkeit</a:t>
            </a:r>
            <a:r>
              <a:rPr lang="de-DE" b="0" i="0" dirty="0">
                <a:solidFill>
                  <a:srgbClr val="202122"/>
                </a:solidFill>
                <a:effectLst/>
              </a:rPr>
              <a:t>).</a:t>
            </a:r>
          </a:p>
          <a:p>
            <a:pPr lvl="1">
              <a:buFont typeface="+mj-lt"/>
              <a:buAutoNum type="arabicPeriod"/>
            </a:pPr>
            <a:r>
              <a:rPr lang="de-DE" b="0" i="0" dirty="0">
                <a:solidFill>
                  <a:srgbClr val="202122"/>
                </a:solidFill>
                <a:effectLst/>
              </a:rPr>
              <a:t>Das Verfahren darf zu jedem Zeitpunkt nur endlich viel Speicherplatz benötigen (</a:t>
            </a:r>
            <a:r>
              <a:rPr lang="de-DE" b="1" i="0" dirty="0">
                <a:effectLst/>
              </a:rPr>
              <a:t>Dynamische</a:t>
            </a:r>
            <a:r>
              <a:rPr lang="de-DE" b="0" i="0" dirty="0">
                <a:solidFill>
                  <a:srgbClr val="202122"/>
                </a:solidFill>
                <a:effectLst/>
              </a:rPr>
              <a:t> </a:t>
            </a:r>
            <a:r>
              <a:rPr lang="de-DE" b="1" i="0" dirty="0" err="1">
                <a:effectLst/>
              </a:rPr>
              <a:t>Finitheit</a:t>
            </a:r>
            <a:r>
              <a:rPr lang="de-DE" b="0" i="0" dirty="0">
                <a:solidFill>
                  <a:srgbClr val="202122"/>
                </a:solidFill>
                <a:effectLst/>
              </a:rPr>
              <a:t>).</a:t>
            </a:r>
          </a:p>
          <a:p>
            <a:pPr lvl="1">
              <a:buFont typeface="+mj-lt"/>
              <a:buAutoNum type="arabicPeriod"/>
            </a:pPr>
            <a:r>
              <a:rPr lang="de-DE" b="0" i="0" dirty="0">
                <a:solidFill>
                  <a:srgbClr val="202122"/>
                </a:solidFill>
                <a:effectLst/>
              </a:rPr>
              <a:t>Das Verfahren darf nur endlich viele Schritte benötigen (</a:t>
            </a:r>
            <a:r>
              <a:rPr lang="de-DE" b="1" i="0" u="none" strike="noStrike" dirty="0">
                <a:effectLst/>
              </a:rPr>
              <a:t>Terminierung</a:t>
            </a:r>
            <a:r>
              <a:rPr lang="de-DE" b="0" i="0" dirty="0">
                <a:solidFill>
                  <a:srgbClr val="202122"/>
                </a:solidFill>
                <a:effectLst/>
              </a:rPr>
              <a:t>).</a:t>
            </a:r>
          </a:p>
          <a:p>
            <a:pPr algn="l"/>
            <a:r>
              <a:rPr lang="de-DE" b="0" i="0" dirty="0">
                <a:solidFill>
                  <a:srgbClr val="202122"/>
                </a:solidFill>
                <a:effectLst/>
              </a:rPr>
              <a:t>Darüber hinaus wird der Begriff Algorithmus in praktischen Bereichen oft auf die folgenden Eigenschaften eingeschränkt:</a:t>
            </a:r>
          </a:p>
          <a:p>
            <a:pPr lvl="1">
              <a:buFont typeface="+mj-lt"/>
              <a:buAutoNum type="arabicPeriod"/>
            </a:pPr>
            <a:r>
              <a:rPr lang="de-DE" b="0" i="0" dirty="0">
                <a:solidFill>
                  <a:srgbClr val="202122"/>
                </a:solidFill>
                <a:effectLst/>
              </a:rPr>
              <a:t>Der Algorithmus muss bei denselben Voraussetzungen das gleiche Ergebnis liefern (</a:t>
            </a:r>
            <a:r>
              <a:rPr lang="de-DE" b="1" i="0" u="none" strike="noStrike" dirty="0">
                <a:effectLst/>
              </a:rPr>
              <a:t>Determiniertheit</a:t>
            </a:r>
            <a:r>
              <a:rPr lang="de-DE" b="0" i="0" dirty="0">
                <a:solidFill>
                  <a:srgbClr val="202122"/>
                </a:solidFill>
                <a:effectLst/>
              </a:rPr>
              <a:t>).</a:t>
            </a:r>
          </a:p>
          <a:p>
            <a:pPr lvl="1">
              <a:buFont typeface="+mj-lt"/>
              <a:buAutoNum type="arabicPeriod"/>
            </a:pPr>
            <a:r>
              <a:rPr lang="de-DE" b="0" i="0" dirty="0">
                <a:solidFill>
                  <a:srgbClr val="202122"/>
                </a:solidFill>
                <a:effectLst/>
              </a:rPr>
              <a:t>Die nächste anzuwendende Regel im Verfahren ist zu jedem Zeitpunkt eindeutig definiert (</a:t>
            </a:r>
            <a:r>
              <a:rPr lang="de-DE" b="1" i="0" u="none" strike="noStrike" dirty="0">
                <a:effectLst/>
              </a:rPr>
              <a:t>Determinismus</a:t>
            </a:r>
            <a:r>
              <a:rPr lang="de-DE" b="0" i="0" dirty="0">
                <a:solidFill>
                  <a:srgbClr val="202122"/>
                </a:solidFill>
                <a:effectLst/>
              </a:rPr>
              <a:t>).</a:t>
            </a:r>
          </a:p>
          <a:p>
            <a:endParaRPr lang="de-DE" dirty="0"/>
          </a:p>
        </p:txBody>
      </p:sp>
    </p:spTree>
    <p:extLst>
      <p:ext uri="{BB962C8B-B14F-4D97-AF65-F5344CB8AC3E}">
        <p14:creationId xmlns:p14="http://schemas.microsoft.com/office/powerpoint/2010/main" val="1185436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a:bodyPr>
          <a:lstStyle/>
          <a:p>
            <a:r>
              <a:rPr lang="de-DE" dirty="0"/>
              <a:t>Informationstechnologie – Turing</a:t>
            </a:r>
            <a:br>
              <a:rPr lang="de-DE" dirty="0"/>
            </a:br>
            <a:r>
              <a:rPr lang="de-DE" sz="2200" dirty="0"/>
              <a:t>Die Welt der Nullen und Einsen</a:t>
            </a:r>
            <a:endParaRPr lang="de-DE" dirty="0"/>
          </a:p>
        </p:txBody>
      </p:sp>
      <p:sp>
        <p:nvSpPr>
          <p:cNvPr id="4" name="Textfeld 3">
            <a:extLst>
              <a:ext uri="{FF2B5EF4-FFF2-40B4-BE49-F238E27FC236}">
                <a16:creationId xmlns:a16="http://schemas.microsoft.com/office/drawing/2014/main" id="{A400A782-6F85-9EFE-6385-670088EE3026}"/>
              </a:ext>
            </a:extLst>
          </p:cNvPr>
          <p:cNvSpPr txBox="1"/>
          <p:nvPr/>
        </p:nvSpPr>
        <p:spPr>
          <a:xfrm>
            <a:off x="1008384" y="1690688"/>
            <a:ext cx="10175232" cy="2308324"/>
          </a:xfrm>
          <a:prstGeom prst="rect">
            <a:avLst/>
          </a:prstGeom>
          <a:noFill/>
        </p:spPr>
        <p:txBody>
          <a:bodyPr wrap="square" rtlCol="0">
            <a:spAutoFit/>
          </a:bodyPr>
          <a:lstStyle/>
          <a:p>
            <a:pPr algn="l"/>
            <a:r>
              <a:rPr lang="de-DE" b="0" i="0" dirty="0">
                <a:effectLst/>
              </a:rPr>
              <a:t>Eine </a:t>
            </a:r>
            <a:r>
              <a:rPr lang="de-DE" b="1" i="0" dirty="0">
                <a:effectLst/>
              </a:rPr>
              <a:t>Turingmaschine</a:t>
            </a:r>
            <a:r>
              <a:rPr lang="de-DE" b="0" i="0" dirty="0">
                <a:effectLst/>
              </a:rPr>
              <a:t> ist ein mathematisches </a:t>
            </a:r>
            <a:r>
              <a:rPr lang="de-DE" b="0" i="0" u="none" strike="noStrike" dirty="0">
                <a:effectLst/>
              </a:rPr>
              <a:t>Modell</a:t>
            </a:r>
            <a:r>
              <a:rPr lang="de-DE" b="0" i="0" dirty="0">
                <a:effectLst/>
              </a:rPr>
              <a:t> der </a:t>
            </a:r>
            <a:r>
              <a:rPr lang="de-DE" b="0" i="0" u="none" strike="noStrike" dirty="0">
                <a:effectLst/>
              </a:rPr>
              <a:t>theoretischen Informatik</a:t>
            </a:r>
            <a:r>
              <a:rPr lang="de-DE" b="0" i="0" dirty="0">
                <a:effectLst/>
              </a:rPr>
              <a:t>, das eine </a:t>
            </a:r>
            <a:r>
              <a:rPr lang="de-DE" b="0" i="0" u="none" strike="noStrike" dirty="0">
                <a:effectLst/>
              </a:rPr>
              <a:t>abstrakte Maschine</a:t>
            </a:r>
            <a:r>
              <a:rPr lang="de-DE" b="0" i="0" dirty="0">
                <a:effectLst/>
              </a:rPr>
              <a:t> definiert. Bei diesem Rechnermodell werden nach festgelegten Regeln Manipulationen von </a:t>
            </a:r>
            <a:r>
              <a:rPr lang="de-DE" b="0" i="0" u="none" strike="noStrike" dirty="0">
                <a:effectLst/>
              </a:rPr>
              <a:t>Zeichen</a:t>
            </a:r>
            <a:r>
              <a:rPr lang="de-DE" b="0" i="0" dirty="0">
                <a:effectLst/>
              </a:rPr>
              <a:t> vorgenommen. Die Turingmaschine ist benannt nach dem britischen Mathematiker </a:t>
            </a:r>
            <a:r>
              <a:rPr lang="de-DE" b="0" i="0" u="none" strike="noStrike" dirty="0">
                <a:effectLst/>
              </a:rPr>
              <a:t>Alan Turing</a:t>
            </a:r>
            <a:r>
              <a:rPr lang="de-DE" b="0" i="0" dirty="0">
                <a:effectLst/>
              </a:rPr>
              <a:t>, der sie 1936/37 einführte.</a:t>
            </a:r>
          </a:p>
          <a:p>
            <a:pPr algn="l"/>
            <a:r>
              <a:rPr lang="de-DE" b="0" i="0" dirty="0">
                <a:effectLst/>
              </a:rPr>
              <a:t>Turingmaschinen machen die Begriffe des </a:t>
            </a:r>
            <a:r>
              <a:rPr lang="de-DE" b="0" i="0" u="none" strike="noStrike" dirty="0">
                <a:effectLst/>
              </a:rPr>
              <a:t>Algorithmus</a:t>
            </a:r>
            <a:r>
              <a:rPr lang="de-DE" b="0" i="0" dirty="0">
                <a:effectLst/>
              </a:rPr>
              <a:t> und der </a:t>
            </a:r>
            <a:r>
              <a:rPr lang="de-DE" b="0" i="0" u="none" strike="noStrike" dirty="0">
                <a:effectLst/>
              </a:rPr>
              <a:t>Berechenbarkeit</a:t>
            </a:r>
            <a:r>
              <a:rPr lang="de-DE" b="0" i="0" dirty="0">
                <a:effectLst/>
              </a:rPr>
              <a:t> </a:t>
            </a:r>
            <a:r>
              <a:rPr lang="de-DE" b="0" i="0" u="none" strike="noStrike" dirty="0">
                <a:effectLst/>
              </a:rPr>
              <a:t>mathematisch</a:t>
            </a:r>
            <a:r>
              <a:rPr lang="de-DE" b="0" i="0" dirty="0">
                <a:effectLst/>
              </a:rPr>
              <a:t> fassbar, das heißt, sie formalisieren diese Begriffe. Im Gegensatz zu einem physischen Computer ist eine Turingmaschine damit ein </a:t>
            </a:r>
            <a:r>
              <a:rPr lang="de-DE" b="0" i="0" u="none" strike="noStrike" dirty="0">
                <a:effectLst/>
              </a:rPr>
              <a:t>mathematisches Objekt</a:t>
            </a:r>
            <a:r>
              <a:rPr lang="de-DE" b="0" i="0" dirty="0">
                <a:effectLst/>
              </a:rPr>
              <a:t> und kann mit mathematischen Methoden untersucht werden.</a:t>
            </a:r>
          </a:p>
        </p:txBody>
      </p:sp>
      <p:pic>
        <p:nvPicPr>
          <p:cNvPr id="6" name="Grafik 5">
            <a:extLst>
              <a:ext uri="{FF2B5EF4-FFF2-40B4-BE49-F238E27FC236}">
                <a16:creationId xmlns:a16="http://schemas.microsoft.com/office/drawing/2014/main" id="{5BD75F27-49BF-0FDB-89F4-AA59FAA4453C}"/>
              </a:ext>
            </a:extLst>
          </p:cNvPr>
          <p:cNvPicPr>
            <a:picLocks noChangeAspect="1"/>
          </p:cNvPicPr>
          <p:nvPr/>
        </p:nvPicPr>
        <p:blipFill>
          <a:blip r:embed="rId3"/>
          <a:stretch>
            <a:fillRect/>
          </a:stretch>
        </p:blipFill>
        <p:spPr>
          <a:xfrm>
            <a:off x="328267" y="4461831"/>
            <a:ext cx="3120445" cy="1775556"/>
          </a:xfrm>
          <a:prstGeom prst="rect">
            <a:avLst/>
          </a:prstGeom>
        </p:spPr>
      </p:pic>
      <p:pic>
        <p:nvPicPr>
          <p:cNvPr id="8" name="Grafik 7">
            <a:extLst>
              <a:ext uri="{FF2B5EF4-FFF2-40B4-BE49-F238E27FC236}">
                <a16:creationId xmlns:a16="http://schemas.microsoft.com/office/drawing/2014/main" id="{AFC6BB84-CE1F-15E1-71A5-F0CC9C239937}"/>
              </a:ext>
            </a:extLst>
          </p:cNvPr>
          <p:cNvPicPr>
            <a:picLocks noChangeAspect="1"/>
          </p:cNvPicPr>
          <p:nvPr/>
        </p:nvPicPr>
        <p:blipFill>
          <a:blip r:embed="rId4"/>
          <a:stretch>
            <a:fillRect/>
          </a:stretch>
        </p:blipFill>
        <p:spPr>
          <a:xfrm>
            <a:off x="3941754" y="3597902"/>
            <a:ext cx="3272194" cy="3138817"/>
          </a:xfrm>
          <a:prstGeom prst="rect">
            <a:avLst/>
          </a:prstGeom>
        </p:spPr>
      </p:pic>
      <p:pic>
        <p:nvPicPr>
          <p:cNvPr id="10" name="Grafik 9">
            <a:extLst>
              <a:ext uri="{FF2B5EF4-FFF2-40B4-BE49-F238E27FC236}">
                <a16:creationId xmlns:a16="http://schemas.microsoft.com/office/drawing/2014/main" id="{35155D7F-6CA0-60A1-B9F7-EFEADA457659}"/>
              </a:ext>
            </a:extLst>
          </p:cNvPr>
          <p:cNvPicPr>
            <a:picLocks noChangeAspect="1"/>
          </p:cNvPicPr>
          <p:nvPr/>
        </p:nvPicPr>
        <p:blipFill>
          <a:blip r:embed="rId5"/>
          <a:stretch>
            <a:fillRect/>
          </a:stretch>
        </p:blipFill>
        <p:spPr>
          <a:xfrm>
            <a:off x="7706991" y="3871911"/>
            <a:ext cx="3476625" cy="2590800"/>
          </a:xfrm>
          <a:prstGeom prst="rect">
            <a:avLst/>
          </a:prstGeom>
        </p:spPr>
      </p:pic>
    </p:spTree>
    <p:extLst>
      <p:ext uri="{BB962C8B-B14F-4D97-AF65-F5344CB8AC3E}">
        <p14:creationId xmlns:p14="http://schemas.microsoft.com/office/powerpoint/2010/main" val="1932221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a:bodyPr>
          <a:lstStyle/>
          <a:p>
            <a:r>
              <a:rPr lang="de-DE" dirty="0"/>
              <a:t>Informationstechnologie – Turing</a:t>
            </a:r>
            <a:br>
              <a:rPr lang="de-DE" dirty="0"/>
            </a:br>
            <a:r>
              <a:rPr lang="de-DE" sz="2200" dirty="0"/>
              <a:t>Die Welt der Nullen und Einsen</a:t>
            </a:r>
            <a:endParaRPr lang="de-DE" dirty="0"/>
          </a:p>
        </p:txBody>
      </p:sp>
      <p:sp>
        <p:nvSpPr>
          <p:cNvPr id="3" name="Textfeld 2">
            <a:extLst>
              <a:ext uri="{FF2B5EF4-FFF2-40B4-BE49-F238E27FC236}">
                <a16:creationId xmlns:a16="http://schemas.microsoft.com/office/drawing/2014/main" id="{8C037A6C-10DA-B04E-E053-F0D4F5D3B759}"/>
              </a:ext>
            </a:extLst>
          </p:cNvPr>
          <p:cNvSpPr txBox="1"/>
          <p:nvPr/>
        </p:nvSpPr>
        <p:spPr>
          <a:xfrm>
            <a:off x="1057619" y="2071171"/>
            <a:ext cx="184731" cy="369332"/>
          </a:xfrm>
          <a:prstGeom prst="rect">
            <a:avLst/>
          </a:prstGeom>
          <a:noFill/>
        </p:spPr>
        <p:txBody>
          <a:bodyPr wrap="none" rtlCol="0">
            <a:spAutoFit/>
          </a:bodyPr>
          <a:lstStyle/>
          <a:p>
            <a:endParaRPr lang="de-DE" dirty="0"/>
          </a:p>
        </p:txBody>
      </p:sp>
      <p:pic>
        <p:nvPicPr>
          <p:cNvPr id="15" name="Grafik 14">
            <a:extLst>
              <a:ext uri="{FF2B5EF4-FFF2-40B4-BE49-F238E27FC236}">
                <a16:creationId xmlns:a16="http://schemas.microsoft.com/office/drawing/2014/main" id="{6725EB48-3FB6-94B2-E120-7DA1F503622B}"/>
              </a:ext>
            </a:extLst>
          </p:cNvPr>
          <p:cNvPicPr>
            <a:picLocks noChangeAspect="1"/>
          </p:cNvPicPr>
          <p:nvPr/>
        </p:nvPicPr>
        <p:blipFill>
          <a:blip r:embed="rId3"/>
          <a:stretch>
            <a:fillRect/>
          </a:stretch>
        </p:blipFill>
        <p:spPr>
          <a:xfrm>
            <a:off x="838200" y="1690688"/>
            <a:ext cx="6686550" cy="1857375"/>
          </a:xfrm>
          <a:prstGeom prst="rect">
            <a:avLst/>
          </a:prstGeom>
        </p:spPr>
      </p:pic>
      <p:pic>
        <p:nvPicPr>
          <p:cNvPr id="16" name="Grafik 15">
            <a:extLst>
              <a:ext uri="{FF2B5EF4-FFF2-40B4-BE49-F238E27FC236}">
                <a16:creationId xmlns:a16="http://schemas.microsoft.com/office/drawing/2014/main" id="{D4B06EFC-CA47-DE89-C49C-F36DCF07FDA9}"/>
              </a:ext>
            </a:extLst>
          </p:cNvPr>
          <p:cNvPicPr>
            <a:picLocks noChangeAspect="1"/>
          </p:cNvPicPr>
          <p:nvPr/>
        </p:nvPicPr>
        <p:blipFill>
          <a:blip r:embed="rId4"/>
          <a:stretch>
            <a:fillRect/>
          </a:stretch>
        </p:blipFill>
        <p:spPr>
          <a:xfrm>
            <a:off x="8878728" y="1086190"/>
            <a:ext cx="2694491" cy="1533185"/>
          </a:xfrm>
          <a:prstGeom prst="rect">
            <a:avLst/>
          </a:prstGeom>
        </p:spPr>
      </p:pic>
      <p:pic>
        <p:nvPicPr>
          <p:cNvPr id="18" name="Grafik 17">
            <a:extLst>
              <a:ext uri="{FF2B5EF4-FFF2-40B4-BE49-F238E27FC236}">
                <a16:creationId xmlns:a16="http://schemas.microsoft.com/office/drawing/2014/main" id="{57E83016-BEF8-033B-F01B-4A3E8C49D1E7}"/>
              </a:ext>
            </a:extLst>
          </p:cNvPr>
          <p:cNvPicPr>
            <a:picLocks noChangeAspect="1"/>
          </p:cNvPicPr>
          <p:nvPr/>
        </p:nvPicPr>
        <p:blipFill>
          <a:blip r:embed="rId5"/>
          <a:stretch>
            <a:fillRect/>
          </a:stretch>
        </p:blipFill>
        <p:spPr>
          <a:xfrm>
            <a:off x="6405562" y="2619375"/>
            <a:ext cx="2238375" cy="1057275"/>
          </a:xfrm>
          <a:prstGeom prst="rect">
            <a:avLst/>
          </a:prstGeom>
        </p:spPr>
      </p:pic>
      <p:pic>
        <p:nvPicPr>
          <p:cNvPr id="19" name="Grafik 18">
            <a:extLst>
              <a:ext uri="{FF2B5EF4-FFF2-40B4-BE49-F238E27FC236}">
                <a16:creationId xmlns:a16="http://schemas.microsoft.com/office/drawing/2014/main" id="{F5CF42A5-BD8D-4CBD-2FEF-D19C281AFF11}"/>
              </a:ext>
            </a:extLst>
          </p:cNvPr>
          <p:cNvPicPr>
            <a:picLocks noChangeAspect="1"/>
          </p:cNvPicPr>
          <p:nvPr/>
        </p:nvPicPr>
        <p:blipFill>
          <a:blip r:embed="rId6"/>
          <a:stretch>
            <a:fillRect/>
          </a:stretch>
        </p:blipFill>
        <p:spPr>
          <a:xfrm>
            <a:off x="1573129" y="3597902"/>
            <a:ext cx="3272194" cy="3138817"/>
          </a:xfrm>
          <a:prstGeom prst="rect">
            <a:avLst/>
          </a:prstGeom>
        </p:spPr>
      </p:pic>
      <p:pic>
        <p:nvPicPr>
          <p:cNvPr id="20" name="Grafik 19">
            <a:extLst>
              <a:ext uri="{FF2B5EF4-FFF2-40B4-BE49-F238E27FC236}">
                <a16:creationId xmlns:a16="http://schemas.microsoft.com/office/drawing/2014/main" id="{3C22BF82-FFC9-E66C-1FDB-AC8B9A0355D5}"/>
              </a:ext>
            </a:extLst>
          </p:cNvPr>
          <p:cNvPicPr>
            <a:picLocks noChangeAspect="1"/>
          </p:cNvPicPr>
          <p:nvPr/>
        </p:nvPicPr>
        <p:blipFill>
          <a:blip r:embed="rId7"/>
          <a:stretch>
            <a:fillRect/>
          </a:stretch>
        </p:blipFill>
        <p:spPr>
          <a:xfrm>
            <a:off x="6905624" y="3944938"/>
            <a:ext cx="3476625" cy="2590800"/>
          </a:xfrm>
          <a:prstGeom prst="rect">
            <a:avLst/>
          </a:prstGeom>
        </p:spPr>
      </p:pic>
    </p:spTree>
    <p:extLst>
      <p:ext uri="{BB962C8B-B14F-4D97-AF65-F5344CB8AC3E}">
        <p14:creationId xmlns:p14="http://schemas.microsoft.com/office/powerpoint/2010/main" val="1024592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4014B0-3F3A-E957-627F-68864E6AEF64}"/>
              </a:ext>
            </a:extLst>
          </p:cNvPr>
          <p:cNvSpPr>
            <a:spLocks noGrp="1"/>
          </p:cNvSpPr>
          <p:nvPr>
            <p:ph type="title"/>
          </p:nvPr>
        </p:nvSpPr>
        <p:spPr/>
        <p:txBody>
          <a:bodyPr>
            <a:normAutofit/>
          </a:bodyPr>
          <a:lstStyle/>
          <a:p>
            <a:r>
              <a:rPr lang="de-DE" dirty="0"/>
              <a:t>Informationstechnologie – Turing &amp; Code</a:t>
            </a:r>
            <a:br>
              <a:rPr lang="de-DE" dirty="0"/>
            </a:br>
            <a:r>
              <a:rPr lang="de-DE" sz="2200" dirty="0"/>
              <a:t>Die Welt der Nullen und Einsen</a:t>
            </a:r>
            <a:endParaRPr lang="de-DE" dirty="0"/>
          </a:p>
        </p:txBody>
      </p:sp>
      <p:sp>
        <p:nvSpPr>
          <p:cNvPr id="3" name="Textfeld 2">
            <a:extLst>
              <a:ext uri="{FF2B5EF4-FFF2-40B4-BE49-F238E27FC236}">
                <a16:creationId xmlns:a16="http://schemas.microsoft.com/office/drawing/2014/main" id="{6A34328E-0C52-F8F8-FF9A-BDE08576C533}"/>
              </a:ext>
            </a:extLst>
          </p:cNvPr>
          <p:cNvSpPr txBox="1"/>
          <p:nvPr/>
        </p:nvSpPr>
        <p:spPr>
          <a:xfrm>
            <a:off x="1903163" y="1690688"/>
            <a:ext cx="8385673" cy="923330"/>
          </a:xfrm>
          <a:prstGeom prst="rect">
            <a:avLst/>
          </a:prstGeom>
          <a:noFill/>
        </p:spPr>
        <p:txBody>
          <a:bodyPr wrap="square" rtlCol="0">
            <a:spAutoFit/>
          </a:bodyPr>
          <a:lstStyle/>
          <a:p>
            <a:r>
              <a:rPr lang="de-DE" b="0" i="0" dirty="0">
                <a:effectLst/>
              </a:rPr>
              <a:t>Exakt ausgedrückt bezeichnet Turing-Vollständigkeit in der </a:t>
            </a:r>
            <a:r>
              <a:rPr lang="de-DE" b="0" i="0" u="none" strike="noStrike" dirty="0">
                <a:effectLst/>
              </a:rPr>
              <a:t>Berechenbarkeitstheorie</a:t>
            </a:r>
            <a:r>
              <a:rPr lang="de-DE" b="0" i="0" dirty="0">
                <a:effectLst/>
              </a:rPr>
              <a:t> die Eigenschaft einer </a:t>
            </a:r>
            <a:r>
              <a:rPr lang="de-DE" b="0" i="0" u="none" strike="noStrike" dirty="0">
                <a:effectLst/>
              </a:rPr>
              <a:t>Programmiersprache</a:t>
            </a:r>
            <a:r>
              <a:rPr lang="de-DE" b="0" i="0" dirty="0">
                <a:effectLst/>
              </a:rPr>
              <a:t> oder eines anderen logischen Systems, sämtliche Funktionen berechnen zu können, die eine universelle Turingmaschine berechnen kann.</a:t>
            </a:r>
            <a:endParaRPr lang="de-DE" dirty="0"/>
          </a:p>
        </p:txBody>
      </p:sp>
      <p:sp>
        <p:nvSpPr>
          <p:cNvPr id="4" name="Textfeld 3">
            <a:extLst>
              <a:ext uri="{FF2B5EF4-FFF2-40B4-BE49-F238E27FC236}">
                <a16:creationId xmlns:a16="http://schemas.microsoft.com/office/drawing/2014/main" id="{E723A3C0-B5FD-E37B-57F3-0261FF1560D4}"/>
              </a:ext>
            </a:extLst>
          </p:cNvPr>
          <p:cNvSpPr txBox="1"/>
          <p:nvPr/>
        </p:nvSpPr>
        <p:spPr>
          <a:xfrm>
            <a:off x="738130" y="3040655"/>
            <a:ext cx="4673652" cy="3693319"/>
          </a:xfrm>
          <a:prstGeom prst="rect">
            <a:avLst/>
          </a:prstGeom>
          <a:noFill/>
        </p:spPr>
        <p:txBody>
          <a:bodyPr wrap="none" rtlCol="0">
            <a:spAutoFit/>
          </a:bodyPr>
          <a:lstStyle/>
          <a:p>
            <a:pPr marL="285750" indent="-285750">
              <a:buFont typeface="Arial" panose="020B0604020202020204" pitchFamily="34" charset="0"/>
              <a:buChar char="•"/>
            </a:pPr>
            <a:r>
              <a:rPr lang="de-DE" dirty="0" err="1"/>
              <a:t>Bool</a:t>
            </a:r>
            <a:r>
              <a:rPr lang="de-DE" dirty="0"/>
              <a:t> = {</a:t>
            </a:r>
            <a:r>
              <a:rPr lang="de-DE" dirty="0" err="1"/>
              <a:t>true</a:t>
            </a:r>
            <a:r>
              <a:rPr lang="de-DE" dirty="0"/>
              <a:t>, </a:t>
            </a:r>
            <a:r>
              <a:rPr lang="de-DE" dirty="0" err="1"/>
              <a:t>false</a:t>
            </a:r>
            <a:r>
              <a:rPr lang="de-DE" dirty="0"/>
              <a:t>}</a:t>
            </a:r>
          </a:p>
          <a:p>
            <a:pPr marL="285750" indent="-285750">
              <a:buFont typeface="Arial" panose="020B0604020202020204" pitchFamily="34" charset="0"/>
              <a:buChar char="•"/>
            </a:pPr>
            <a:r>
              <a:rPr lang="de-DE" dirty="0" err="1"/>
              <a:t>Unsigned</a:t>
            </a:r>
            <a:r>
              <a:rPr lang="de-DE" dirty="0"/>
              <a:t> Integer = {0,1,2,3…}</a:t>
            </a:r>
          </a:p>
          <a:p>
            <a:pPr marL="285750" indent="-285750">
              <a:buFont typeface="Arial" panose="020B0604020202020204" pitchFamily="34" charset="0"/>
              <a:buChar char="•"/>
            </a:pPr>
            <a:r>
              <a:rPr lang="de-DE" dirty="0"/>
              <a:t>Integer = {…-3,-2,-1, 0,1,2,3,…}</a:t>
            </a:r>
          </a:p>
          <a:p>
            <a:pPr marL="285750" indent="-285750">
              <a:buFont typeface="Arial" panose="020B0604020202020204" pitchFamily="34" charset="0"/>
              <a:buChar char="•"/>
            </a:pPr>
            <a:r>
              <a:rPr lang="de-DE" dirty="0"/>
              <a:t>String = “A </a:t>
            </a:r>
            <a:r>
              <a:rPr lang="de-DE" dirty="0" err="1"/>
              <a:t>text</a:t>
            </a:r>
            <a:r>
              <a:rPr lang="de-DE" dirty="0"/>
              <a:t> string.“</a:t>
            </a:r>
          </a:p>
          <a:p>
            <a:pPr marL="285750" indent="-285750">
              <a:buFont typeface="Arial" panose="020B0604020202020204" pitchFamily="34" charset="0"/>
              <a:buChar char="•"/>
            </a:pPr>
            <a:r>
              <a:rPr lang="de-DE" dirty="0"/>
              <a:t>Array[]: z.B. </a:t>
            </a:r>
            <a:r>
              <a:rPr lang="de-DE" dirty="0" err="1"/>
              <a:t>Bool</a:t>
            </a:r>
            <a:r>
              <a:rPr lang="de-DE" dirty="0"/>
              <a:t>[3] = [</a:t>
            </a:r>
            <a:r>
              <a:rPr lang="de-DE" dirty="0" err="1"/>
              <a:t>Bool</a:t>
            </a:r>
            <a:r>
              <a:rPr lang="de-DE" dirty="0"/>
              <a:t>, </a:t>
            </a:r>
            <a:r>
              <a:rPr lang="de-DE" dirty="0" err="1"/>
              <a:t>Bool</a:t>
            </a:r>
            <a:r>
              <a:rPr lang="de-DE" dirty="0"/>
              <a:t>, </a:t>
            </a:r>
            <a:r>
              <a:rPr lang="de-DE" dirty="0" err="1"/>
              <a:t>Bool</a:t>
            </a:r>
            <a:r>
              <a:rPr lang="de-DE" dirty="0"/>
              <a:t>, </a:t>
            </a:r>
            <a:r>
              <a:rPr lang="de-DE" dirty="0" err="1"/>
              <a:t>Bool</a:t>
            </a:r>
            <a:r>
              <a:rPr lang="de-DE" dirty="0"/>
              <a:t>]</a:t>
            </a:r>
          </a:p>
          <a:p>
            <a:pPr marL="285750" indent="-285750">
              <a:buFont typeface="Arial" panose="020B0604020202020204" pitchFamily="34" charset="0"/>
              <a:buChar char="•"/>
            </a:pPr>
            <a:r>
              <a:rPr lang="de-DE" dirty="0"/>
              <a:t>Dictionary = &lt;Key, Value&gt;</a:t>
            </a:r>
          </a:p>
          <a:p>
            <a:pPr marL="285750" indent="-285750">
              <a:buFont typeface="Arial" panose="020B0604020202020204" pitchFamily="34" charset="0"/>
              <a:buChar char="•"/>
            </a:pPr>
            <a:endParaRPr lang="de-DE" dirty="0"/>
          </a:p>
          <a:p>
            <a:r>
              <a:rPr lang="de-DE" b="1" dirty="0"/>
              <a:t>Basis-</a:t>
            </a:r>
            <a:r>
              <a:rPr lang="de-DE" b="1" dirty="0" err="1"/>
              <a:t>Programmierfunkionen</a:t>
            </a:r>
            <a:r>
              <a:rPr lang="de-DE" b="1" dirty="0"/>
              <a:t>:</a:t>
            </a:r>
          </a:p>
          <a:p>
            <a:pPr marL="285750" indent="-285750">
              <a:buFont typeface="Arial" panose="020B0604020202020204" pitchFamily="34" charset="0"/>
              <a:buChar char="•"/>
            </a:pPr>
            <a:r>
              <a:rPr lang="de-DE" dirty="0" err="1"/>
              <a:t>if</a:t>
            </a:r>
            <a:r>
              <a:rPr lang="de-DE" dirty="0"/>
              <a:t>(</a:t>
            </a:r>
            <a:r>
              <a:rPr lang="de-DE" dirty="0" err="1"/>
              <a:t>Bool</a:t>
            </a:r>
            <a:r>
              <a:rPr lang="de-DE" dirty="0"/>
              <a:t>) </a:t>
            </a:r>
            <a:r>
              <a:rPr lang="de-DE" dirty="0" err="1"/>
              <a:t>then</a:t>
            </a:r>
            <a:r>
              <a:rPr lang="de-DE" dirty="0"/>
              <a:t> {DO}</a:t>
            </a:r>
          </a:p>
          <a:p>
            <a:pPr marL="742950" lvl="1" indent="-285750">
              <a:buFont typeface="Arial" panose="020B0604020202020204" pitchFamily="34" charset="0"/>
              <a:buChar char="•"/>
            </a:pPr>
            <a:r>
              <a:rPr lang="de-DE" dirty="0" err="1"/>
              <a:t>else</a:t>
            </a:r>
            <a:r>
              <a:rPr lang="de-DE" dirty="0"/>
              <a:t> {DO}</a:t>
            </a:r>
          </a:p>
          <a:p>
            <a:pPr marL="285750" indent="-285750">
              <a:buFont typeface="Arial" panose="020B0604020202020204" pitchFamily="34" charset="0"/>
              <a:buChar char="•"/>
            </a:pPr>
            <a:r>
              <a:rPr lang="de-DE" dirty="0" err="1"/>
              <a:t>try</a:t>
            </a:r>
            <a:r>
              <a:rPr lang="de-DE" dirty="0"/>
              <a:t>{DO}</a:t>
            </a:r>
          </a:p>
          <a:p>
            <a:pPr marL="742950" lvl="1" indent="-285750">
              <a:buFont typeface="Arial" panose="020B0604020202020204" pitchFamily="34" charset="0"/>
              <a:buChar char="•"/>
            </a:pPr>
            <a:r>
              <a:rPr lang="de-DE" dirty="0"/>
              <a:t>catch(</a:t>
            </a:r>
            <a:r>
              <a:rPr lang="de-DE" dirty="0" err="1"/>
              <a:t>Exception</a:t>
            </a:r>
            <a:r>
              <a:rPr lang="de-DE" dirty="0"/>
              <a:t>) {DO}</a:t>
            </a:r>
          </a:p>
          <a:p>
            <a:pPr marL="742950" lvl="1" indent="-285750">
              <a:buFont typeface="Arial" panose="020B0604020202020204" pitchFamily="34" charset="0"/>
              <a:buChar char="•"/>
            </a:pPr>
            <a:endParaRPr lang="de-DE" dirty="0"/>
          </a:p>
        </p:txBody>
      </p:sp>
      <p:sp>
        <p:nvSpPr>
          <p:cNvPr id="5" name="Textfeld 4">
            <a:extLst>
              <a:ext uri="{FF2B5EF4-FFF2-40B4-BE49-F238E27FC236}">
                <a16:creationId xmlns:a16="http://schemas.microsoft.com/office/drawing/2014/main" id="{D6415AB8-BE8E-A33F-732A-DC30DCB0CC08}"/>
              </a:ext>
            </a:extLst>
          </p:cNvPr>
          <p:cNvSpPr txBox="1"/>
          <p:nvPr/>
        </p:nvSpPr>
        <p:spPr>
          <a:xfrm>
            <a:off x="738130" y="2671323"/>
            <a:ext cx="3219599" cy="369332"/>
          </a:xfrm>
          <a:prstGeom prst="rect">
            <a:avLst/>
          </a:prstGeom>
          <a:noFill/>
        </p:spPr>
        <p:txBody>
          <a:bodyPr wrap="none" rtlCol="0">
            <a:spAutoFit/>
          </a:bodyPr>
          <a:lstStyle/>
          <a:p>
            <a:r>
              <a:rPr lang="de-DE" b="1" dirty="0"/>
              <a:t>Basis-Programmierdefinitionen:</a:t>
            </a:r>
          </a:p>
        </p:txBody>
      </p:sp>
      <p:sp>
        <p:nvSpPr>
          <p:cNvPr id="6" name="Textfeld 5">
            <a:extLst>
              <a:ext uri="{FF2B5EF4-FFF2-40B4-BE49-F238E27FC236}">
                <a16:creationId xmlns:a16="http://schemas.microsoft.com/office/drawing/2014/main" id="{64705097-158E-4367-FA7B-F4607E483A1B}"/>
              </a:ext>
            </a:extLst>
          </p:cNvPr>
          <p:cNvSpPr txBox="1"/>
          <p:nvPr/>
        </p:nvSpPr>
        <p:spPr>
          <a:xfrm>
            <a:off x="6648153" y="2671323"/>
            <a:ext cx="4705647" cy="1200329"/>
          </a:xfrm>
          <a:prstGeom prst="rect">
            <a:avLst/>
          </a:prstGeom>
          <a:noFill/>
        </p:spPr>
        <p:txBody>
          <a:bodyPr wrap="none" rtlCol="0">
            <a:spAutoFit/>
          </a:bodyPr>
          <a:lstStyle/>
          <a:p>
            <a:r>
              <a:rPr lang="de-DE" b="1" dirty="0"/>
              <a:t>„Turing-Vollständig Programmierfunktionen“:</a:t>
            </a:r>
          </a:p>
          <a:p>
            <a:pPr marL="285750" indent="-285750">
              <a:buFont typeface="Arial" panose="020B0604020202020204" pitchFamily="34" charset="0"/>
              <a:buChar char="•"/>
            </a:pPr>
            <a:r>
              <a:rPr lang="de-DE" dirty="0" err="1"/>
              <a:t>while</a:t>
            </a:r>
            <a:r>
              <a:rPr lang="de-DE" dirty="0"/>
              <a:t>(</a:t>
            </a:r>
            <a:r>
              <a:rPr lang="de-DE" dirty="0" err="1"/>
              <a:t>Bool</a:t>
            </a:r>
            <a:r>
              <a:rPr lang="de-DE" dirty="0"/>
              <a:t>) {DO}</a:t>
            </a:r>
          </a:p>
          <a:p>
            <a:pPr marL="285750" indent="-285750">
              <a:buFont typeface="Arial" panose="020B0604020202020204" pitchFamily="34" charset="0"/>
              <a:buChar char="•"/>
            </a:pPr>
            <a:r>
              <a:rPr lang="de-DE" dirty="0" err="1"/>
              <a:t>for</a:t>
            </a:r>
            <a:r>
              <a:rPr lang="de-DE" dirty="0"/>
              <a:t>(Iteration, </a:t>
            </a:r>
            <a:r>
              <a:rPr lang="de-DE" dirty="0" err="1"/>
              <a:t>Bool</a:t>
            </a:r>
            <a:r>
              <a:rPr lang="de-DE" dirty="0"/>
              <a:t>) {DO}</a:t>
            </a:r>
          </a:p>
          <a:p>
            <a:pPr marL="285750" indent="-285750">
              <a:buFont typeface="Arial" panose="020B0604020202020204" pitchFamily="34" charset="0"/>
              <a:buChar char="•"/>
            </a:pPr>
            <a:r>
              <a:rPr lang="de-DE" dirty="0" err="1"/>
              <a:t>foreach</a:t>
            </a:r>
            <a:r>
              <a:rPr lang="de-DE" dirty="0"/>
              <a:t>(Array/Dictionary Iteration, </a:t>
            </a:r>
            <a:r>
              <a:rPr lang="de-DE" dirty="0" err="1"/>
              <a:t>Bool</a:t>
            </a:r>
            <a:r>
              <a:rPr lang="de-DE" dirty="0"/>
              <a:t>){DO}</a:t>
            </a:r>
          </a:p>
        </p:txBody>
      </p:sp>
      <p:sp>
        <p:nvSpPr>
          <p:cNvPr id="7" name="Textfeld 6">
            <a:extLst>
              <a:ext uri="{FF2B5EF4-FFF2-40B4-BE49-F238E27FC236}">
                <a16:creationId xmlns:a16="http://schemas.microsoft.com/office/drawing/2014/main" id="{FE3EA26E-7B0B-9288-FD03-7C4A3BC66D88}"/>
              </a:ext>
            </a:extLst>
          </p:cNvPr>
          <p:cNvSpPr txBox="1"/>
          <p:nvPr/>
        </p:nvSpPr>
        <p:spPr>
          <a:xfrm>
            <a:off x="6648153" y="4184551"/>
            <a:ext cx="3109377" cy="2308324"/>
          </a:xfrm>
          <a:prstGeom prst="rect">
            <a:avLst/>
          </a:prstGeom>
          <a:noFill/>
        </p:spPr>
        <p:txBody>
          <a:bodyPr wrap="none" rtlCol="0">
            <a:spAutoFit/>
          </a:bodyPr>
          <a:lstStyle/>
          <a:p>
            <a:r>
              <a:rPr lang="de-DE" b="1" dirty="0"/>
              <a:t>Einfaches </a:t>
            </a:r>
            <a:r>
              <a:rPr lang="de-DE" b="1" dirty="0" err="1"/>
              <a:t>Algorithmusbeispiel</a:t>
            </a:r>
            <a:r>
              <a:rPr lang="de-DE" b="1" dirty="0"/>
              <a:t>:</a:t>
            </a:r>
          </a:p>
          <a:p>
            <a:endParaRPr lang="de-DE" b="1" dirty="0"/>
          </a:p>
          <a:p>
            <a:r>
              <a:rPr lang="de-DE" dirty="0"/>
              <a:t>A = 5</a:t>
            </a:r>
          </a:p>
          <a:p>
            <a:r>
              <a:rPr lang="de-DE" dirty="0"/>
              <a:t>B = [0,1,2,3,4]</a:t>
            </a:r>
          </a:p>
          <a:p>
            <a:r>
              <a:rPr lang="de-DE" dirty="0" err="1"/>
              <a:t>for</a:t>
            </a:r>
            <a:r>
              <a:rPr lang="de-DE" dirty="0"/>
              <a:t> x in B:</a:t>
            </a:r>
          </a:p>
          <a:p>
            <a:r>
              <a:rPr lang="de-DE" dirty="0"/>
              <a:t>    </a:t>
            </a:r>
            <a:r>
              <a:rPr lang="de-DE" dirty="0" err="1"/>
              <a:t>print</a:t>
            </a:r>
            <a:r>
              <a:rPr lang="de-DE" dirty="0"/>
              <a:t>(x)</a:t>
            </a:r>
          </a:p>
          <a:p>
            <a:endParaRPr lang="de-DE" dirty="0"/>
          </a:p>
          <a:p>
            <a:r>
              <a:rPr lang="de-DE" dirty="0" err="1"/>
              <a:t>print</a:t>
            </a:r>
            <a:r>
              <a:rPr lang="de-DE" dirty="0"/>
              <a:t>(</a:t>
            </a:r>
            <a:r>
              <a:rPr lang="de-DE" dirty="0" err="1"/>
              <a:t>len</a:t>
            </a:r>
            <a:r>
              <a:rPr lang="de-DE" dirty="0"/>
              <a:t>(B)==A)</a:t>
            </a:r>
          </a:p>
        </p:txBody>
      </p:sp>
      <p:sp>
        <p:nvSpPr>
          <p:cNvPr id="8" name="Textfeld 7">
            <a:extLst>
              <a:ext uri="{FF2B5EF4-FFF2-40B4-BE49-F238E27FC236}">
                <a16:creationId xmlns:a16="http://schemas.microsoft.com/office/drawing/2014/main" id="{FD11C2AF-6D51-3437-9BDD-4C5639C07F84}"/>
              </a:ext>
            </a:extLst>
          </p:cNvPr>
          <p:cNvSpPr txBox="1"/>
          <p:nvPr/>
        </p:nvSpPr>
        <p:spPr>
          <a:xfrm>
            <a:off x="8751228" y="5292546"/>
            <a:ext cx="2602572" cy="1200329"/>
          </a:xfrm>
          <a:prstGeom prst="rect">
            <a:avLst/>
          </a:prstGeom>
          <a:noFill/>
        </p:spPr>
        <p:txBody>
          <a:bodyPr wrap="none" rtlCol="0">
            <a:spAutoFit/>
          </a:bodyPr>
          <a:lstStyle/>
          <a:p>
            <a:r>
              <a:rPr lang="de-DE" dirty="0" err="1"/>
              <a:t>if</a:t>
            </a:r>
            <a:r>
              <a:rPr lang="de-DE" dirty="0"/>
              <a:t> B[2] == A:</a:t>
            </a:r>
          </a:p>
          <a:p>
            <a:r>
              <a:rPr lang="de-DE" dirty="0"/>
              <a:t>    </a:t>
            </a:r>
            <a:r>
              <a:rPr lang="de-DE" dirty="0" err="1"/>
              <a:t>print</a:t>
            </a:r>
            <a:r>
              <a:rPr lang="de-DE" dirty="0"/>
              <a:t>(“B[2] ist gleich A“)</a:t>
            </a:r>
          </a:p>
          <a:p>
            <a:r>
              <a:rPr lang="de-DE" dirty="0" err="1"/>
              <a:t>else</a:t>
            </a:r>
            <a:r>
              <a:rPr lang="de-DE" dirty="0"/>
              <a:t>:</a:t>
            </a:r>
          </a:p>
          <a:p>
            <a:r>
              <a:rPr lang="de-DE" dirty="0"/>
              <a:t>    </a:t>
            </a:r>
            <a:r>
              <a:rPr lang="de-DE" dirty="0" err="1"/>
              <a:t>print</a:t>
            </a:r>
            <a:r>
              <a:rPr lang="de-DE" dirty="0"/>
              <a:t>(B[2])</a:t>
            </a:r>
          </a:p>
        </p:txBody>
      </p:sp>
    </p:spTree>
    <p:extLst>
      <p:ext uri="{BB962C8B-B14F-4D97-AF65-F5344CB8AC3E}">
        <p14:creationId xmlns:p14="http://schemas.microsoft.com/office/powerpoint/2010/main" val="2027774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D6C969-FBBF-7BF0-28E3-F3C239FCDB17}"/>
              </a:ext>
            </a:extLst>
          </p:cNvPr>
          <p:cNvSpPr>
            <a:spLocks noGrp="1"/>
          </p:cNvSpPr>
          <p:nvPr>
            <p:ph type="title"/>
          </p:nvPr>
        </p:nvSpPr>
        <p:spPr/>
        <p:txBody>
          <a:bodyPr/>
          <a:lstStyle/>
          <a:p>
            <a:r>
              <a:rPr lang="de-DE" dirty="0"/>
              <a:t>Blockchains</a:t>
            </a:r>
            <a:br>
              <a:rPr lang="de-DE" dirty="0"/>
            </a:br>
            <a:r>
              <a:rPr lang="de-DE" sz="2200" dirty="0"/>
              <a:t>Die neue Welt der Datenspeicherung</a:t>
            </a:r>
            <a:endParaRPr lang="de-DE" dirty="0"/>
          </a:p>
        </p:txBody>
      </p:sp>
      <p:sp>
        <p:nvSpPr>
          <p:cNvPr id="3" name="Inhaltsplatzhalter 2">
            <a:extLst>
              <a:ext uri="{FF2B5EF4-FFF2-40B4-BE49-F238E27FC236}">
                <a16:creationId xmlns:a16="http://schemas.microsoft.com/office/drawing/2014/main" id="{4E0C63E7-307E-1058-B32F-8BBBB6598FE4}"/>
              </a:ext>
            </a:extLst>
          </p:cNvPr>
          <p:cNvSpPr>
            <a:spLocks noGrp="1"/>
          </p:cNvSpPr>
          <p:nvPr>
            <p:ph idx="1"/>
          </p:nvPr>
        </p:nvSpPr>
        <p:spPr/>
        <p:txBody>
          <a:bodyPr/>
          <a:lstStyle/>
          <a:p>
            <a:r>
              <a:rPr lang="de-DE" dirty="0"/>
              <a:t>Wie alles begann: Whitepaper, </a:t>
            </a:r>
            <a:r>
              <a:rPr lang="de-DE" dirty="0" err="1"/>
              <a:t>Github</a:t>
            </a:r>
            <a:r>
              <a:rPr lang="de-DE" dirty="0"/>
              <a:t>, Netzwerk</a:t>
            </a:r>
          </a:p>
          <a:p>
            <a:r>
              <a:rPr lang="de-DE" dirty="0"/>
              <a:t>Warum </a:t>
            </a:r>
            <a:r>
              <a:rPr lang="de-DE" dirty="0" err="1"/>
              <a:t>OpenSource</a:t>
            </a:r>
            <a:r>
              <a:rPr lang="de-DE" dirty="0"/>
              <a:t>?</a:t>
            </a:r>
          </a:p>
          <a:p>
            <a:r>
              <a:rPr lang="de-DE" dirty="0"/>
              <a:t>Warum Ethereum?</a:t>
            </a:r>
          </a:p>
          <a:p>
            <a:r>
              <a:rPr lang="de-DE" dirty="0"/>
              <a:t>Unterschied von </a:t>
            </a:r>
            <a:r>
              <a:rPr lang="de-DE" dirty="0" err="1"/>
              <a:t>PoW</a:t>
            </a:r>
            <a:r>
              <a:rPr lang="de-DE" dirty="0"/>
              <a:t> und </a:t>
            </a:r>
            <a:r>
              <a:rPr lang="de-DE" dirty="0" err="1"/>
              <a:t>PoS</a:t>
            </a:r>
            <a:r>
              <a:rPr lang="de-DE" dirty="0"/>
              <a:t>, </a:t>
            </a:r>
            <a:r>
              <a:rPr lang="de-DE" dirty="0" err="1"/>
              <a:t>Bsp</a:t>
            </a:r>
            <a:r>
              <a:rPr lang="de-DE" dirty="0"/>
              <a:t> </a:t>
            </a:r>
            <a:r>
              <a:rPr lang="de-DE" dirty="0" err="1"/>
              <a:t>hashes</a:t>
            </a:r>
            <a:r>
              <a:rPr lang="de-DE" dirty="0"/>
              <a:t> mit </a:t>
            </a:r>
            <a:r>
              <a:rPr lang="de-DE" dirty="0" err="1"/>
              <a:t>python</a:t>
            </a:r>
            <a:r>
              <a:rPr lang="de-DE" dirty="0"/>
              <a:t>, stake </a:t>
            </a:r>
            <a:r>
              <a:rPr lang="de-DE" dirty="0" err="1"/>
              <a:t>of</a:t>
            </a:r>
            <a:r>
              <a:rPr lang="de-DE" dirty="0"/>
              <a:t> 5</a:t>
            </a:r>
          </a:p>
        </p:txBody>
      </p:sp>
    </p:spTree>
    <p:extLst>
      <p:ext uri="{BB962C8B-B14F-4D97-AF65-F5344CB8AC3E}">
        <p14:creationId xmlns:p14="http://schemas.microsoft.com/office/powerpoint/2010/main" val="1505470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D6C969-FBBF-7BF0-28E3-F3C239FCDB17}"/>
              </a:ext>
            </a:extLst>
          </p:cNvPr>
          <p:cNvSpPr>
            <a:spLocks noGrp="1"/>
          </p:cNvSpPr>
          <p:nvPr>
            <p:ph type="title"/>
          </p:nvPr>
        </p:nvSpPr>
        <p:spPr/>
        <p:txBody>
          <a:bodyPr/>
          <a:lstStyle/>
          <a:p>
            <a:r>
              <a:rPr lang="de-DE" dirty="0"/>
              <a:t>Blockchains – Wie alles begann</a:t>
            </a:r>
            <a:br>
              <a:rPr lang="de-DE" dirty="0"/>
            </a:br>
            <a:r>
              <a:rPr lang="de-DE" sz="2200" dirty="0"/>
              <a:t>Die neue Welt der Datenspeicherung</a:t>
            </a:r>
            <a:endParaRPr lang="de-DE" dirty="0"/>
          </a:p>
        </p:txBody>
      </p:sp>
    </p:spTree>
    <p:extLst>
      <p:ext uri="{BB962C8B-B14F-4D97-AF65-F5344CB8AC3E}">
        <p14:creationId xmlns:p14="http://schemas.microsoft.com/office/powerpoint/2010/main" val="1570520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D6C969-FBBF-7BF0-28E3-F3C239FCDB17}"/>
              </a:ext>
            </a:extLst>
          </p:cNvPr>
          <p:cNvSpPr>
            <a:spLocks noGrp="1"/>
          </p:cNvSpPr>
          <p:nvPr>
            <p:ph type="title"/>
          </p:nvPr>
        </p:nvSpPr>
        <p:spPr/>
        <p:txBody>
          <a:bodyPr/>
          <a:lstStyle/>
          <a:p>
            <a:r>
              <a:rPr lang="de-DE" dirty="0"/>
              <a:t>Blockchains – Wie alles begann</a:t>
            </a:r>
            <a:br>
              <a:rPr lang="de-DE" dirty="0"/>
            </a:br>
            <a:r>
              <a:rPr lang="de-DE" sz="2200" dirty="0"/>
              <a:t>Die neue Welt der Datenspeicherung</a:t>
            </a:r>
            <a:endParaRPr lang="de-DE" dirty="0"/>
          </a:p>
        </p:txBody>
      </p:sp>
    </p:spTree>
    <p:extLst>
      <p:ext uri="{BB962C8B-B14F-4D97-AF65-F5344CB8AC3E}">
        <p14:creationId xmlns:p14="http://schemas.microsoft.com/office/powerpoint/2010/main" val="3288718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D6C969-FBBF-7BF0-28E3-F3C239FCDB17}"/>
              </a:ext>
            </a:extLst>
          </p:cNvPr>
          <p:cNvSpPr>
            <a:spLocks noGrp="1"/>
          </p:cNvSpPr>
          <p:nvPr>
            <p:ph type="title"/>
          </p:nvPr>
        </p:nvSpPr>
        <p:spPr/>
        <p:txBody>
          <a:bodyPr/>
          <a:lstStyle/>
          <a:p>
            <a:r>
              <a:rPr lang="de-DE" dirty="0"/>
              <a:t>Blockchains – Wie alles begann</a:t>
            </a:r>
            <a:br>
              <a:rPr lang="de-DE" dirty="0"/>
            </a:br>
            <a:r>
              <a:rPr lang="de-DE" sz="2200" dirty="0"/>
              <a:t>Die neue Welt der Datenspeicherung</a:t>
            </a:r>
            <a:endParaRPr lang="de-DE" dirty="0"/>
          </a:p>
        </p:txBody>
      </p:sp>
    </p:spTree>
    <p:extLst>
      <p:ext uri="{BB962C8B-B14F-4D97-AF65-F5344CB8AC3E}">
        <p14:creationId xmlns:p14="http://schemas.microsoft.com/office/powerpoint/2010/main" val="1498602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D6C969-FBBF-7BF0-28E3-F3C239FCDB17}"/>
              </a:ext>
            </a:extLst>
          </p:cNvPr>
          <p:cNvSpPr>
            <a:spLocks noGrp="1"/>
          </p:cNvSpPr>
          <p:nvPr>
            <p:ph type="title"/>
          </p:nvPr>
        </p:nvSpPr>
        <p:spPr/>
        <p:txBody>
          <a:bodyPr/>
          <a:lstStyle/>
          <a:p>
            <a:r>
              <a:rPr lang="de-DE" dirty="0"/>
              <a:t>Blockchains – Wie alles begann</a:t>
            </a:r>
            <a:br>
              <a:rPr lang="de-DE" dirty="0"/>
            </a:br>
            <a:r>
              <a:rPr lang="de-DE" sz="2200" dirty="0"/>
              <a:t>Die neue Welt der Datenspeicherung</a:t>
            </a:r>
            <a:endParaRPr lang="de-DE" dirty="0"/>
          </a:p>
        </p:txBody>
      </p:sp>
    </p:spTree>
    <p:extLst>
      <p:ext uri="{BB962C8B-B14F-4D97-AF65-F5344CB8AC3E}">
        <p14:creationId xmlns:p14="http://schemas.microsoft.com/office/powerpoint/2010/main" val="1675478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D6C969-FBBF-7BF0-28E3-F3C239FCDB17}"/>
              </a:ext>
            </a:extLst>
          </p:cNvPr>
          <p:cNvSpPr>
            <a:spLocks noGrp="1"/>
          </p:cNvSpPr>
          <p:nvPr>
            <p:ph type="title"/>
          </p:nvPr>
        </p:nvSpPr>
        <p:spPr/>
        <p:txBody>
          <a:bodyPr/>
          <a:lstStyle/>
          <a:p>
            <a:r>
              <a:rPr lang="de-DE" dirty="0"/>
              <a:t>Blockchains – Wie alles begann</a:t>
            </a:r>
            <a:br>
              <a:rPr lang="de-DE" dirty="0"/>
            </a:br>
            <a:r>
              <a:rPr lang="de-DE" sz="2200" dirty="0"/>
              <a:t>Die neue Welt der Datenspeicherung</a:t>
            </a:r>
            <a:endParaRPr lang="de-DE" dirty="0"/>
          </a:p>
        </p:txBody>
      </p:sp>
    </p:spTree>
    <p:extLst>
      <p:ext uri="{BB962C8B-B14F-4D97-AF65-F5344CB8AC3E}">
        <p14:creationId xmlns:p14="http://schemas.microsoft.com/office/powerpoint/2010/main" val="4155652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3F6D08-DD8A-271E-DEB3-C26A42D799B0}"/>
              </a:ext>
            </a:extLst>
          </p:cNvPr>
          <p:cNvSpPr>
            <a:spLocks noGrp="1"/>
          </p:cNvSpPr>
          <p:nvPr>
            <p:ph type="title"/>
          </p:nvPr>
        </p:nvSpPr>
        <p:spPr/>
        <p:txBody>
          <a:bodyPr/>
          <a:lstStyle/>
          <a:p>
            <a:r>
              <a:rPr lang="de-DE" dirty="0"/>
              <a:t>Token</a:t>
            </a:r>
            <a:br>
              <a:rPr lang="de-DE" dirty="0"/>
            </a:br>
            <a:r>
              <a:rPr lang="de-DE" sz="2200" dirty="0"/>
              <a:t>Die Welt der Menschen und Computer</a:t>
            </a:r>
            <a:endParaRPr lang="de-DE" dirty="0"/>
          </a:p>
        </p:txBody>
      </p:sp>
      <p:sp>
        <p:nvSpPr>
          <p:cNvPr id="3" name="Inhaltsplatzhalter 2">
            <a:extLst>
              <a:ext uri="{FF2B5EF4-FFF2-40B4-BE49-F238E27FC236}">
                <a16:creationId xmlns:a16="http://schemas.microsoft.com/office/drawing/2014/main" id="{51C5A9EB-4430-945F-8DF9-2B1F3C848B4E}"/>
              </a:ext>
            </a:extLst>
          </p:cNvPr>
          <p:cNvSpPr>
            <a:spLocks noGrp="1"/>
          </p:cNvSpPr>
          <p:nvPr>
            <p:ph idx="1"/>
          </p:nvPr>
        </p:nvSpPr>
        <p:spPr/>
        <p:txBody>
          <a:bodyPr/>
          <a:lstStyle/>
          <a:p>
            <a:r>
              <a:rPr lang="de-DE" dirty="0"/>
              <a:t>Token/</a:t>
            </a:r>
            <a:r>
              <a:rPr lang="de-DE" dirty="0" err="1"/>
              <a:t>Zeichen,Marke,Wertmarke</a:t>
            </a:r>
            <a:endParaRPr lang="de-DE" dirty="0"/>
          </a:p>
          <a:p>
            <a:r>
              <a:rPr lang="de-DE" dirty="0"/>
              <a:t>Bsp. Wie hat der QR-Code funktioniert…</a:t>
            </a:r>
          </a:p>
          <a:p>
            <a:r>
              <a:rPr lang="de-DE" dirty="0"/>
              <a:t>Unterschied fungible/austauschbar und non-fungible Token</a:t>
            </a:r>
          </a:p>
          <a:p>
            <a:r>
              <a:rPr lang="de-DE" dirty="0"/>
              <a:t>ERC20 Standard und ERC721 Standard</a:t>
            </a:r>
          </a:p>
          <a:p>
            <a:r>
              <a:rPr lang="de-DE" dirty="0"/>
              <a:t>Private Key Erstellung, Public Key Herausfinden</a:t>
            </a:r>
          </a:p>
          <a:p>
            <a:r>
              <a:rPr lang="de-DE" dirty="0"/>
              <a:t>Token </a:t>
            </a:r>
            <a:r>
              <a:rPr lang="de-DE"/>
              <a:t>&amp; NFT erhalten </a:t>
            </a:r>
            <a:endParaRPr lang="de-DE" dirty="0"/>
          </a:p>
        </p:txBody>
      </p:sp>
    </p:spTree>
    <p:extLst>
      <p:ext uri="{BB962C8B-B14F-4D97-AF65-F5344CB8AC3E}">
        <p14:creationId xmlns:p14="http://schemas.microsoft.com/office/powerpoint/2010/main" val="665523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8B6A61DD-5FD1-7FB6-0FE2-3F355BA3524D}"/>
              </a:ext>
            </a:extLst>
          </p:cNvPr>
          <p:cNvSpPr>
            <a:spLocks noGrp="1"/>
          </p:cNvSpPr>
          <p:nvPr>
            <p:ph idx="1"/>
          </p:nvPr>
        </p:nvSpPr>
        <p:spPr/>
        <p:txBody>
          <a:bodyPr/>
          <a:lstStyle/>
          <a:p>
            <a:r>
              <a:rPr lang="de-DE" dirty="0"/>
              <a:t>Einführung in die Welt des Internets</a:t>
            </a:r>
          </a:p>
          <a:p>
            <a:r>
              <a:rPr lang="de-DE" dirty="0"/>
              <a:t>Einführung in die Welt der Token</a:t>
            </a:r>
          </a:p>
          <a:p>
            <a:r>
              <a:rPr lang="de-DE" dirty="0"/>
              <a:t>Einführung in die moderne Benutzung des Werteaustausches</a:t>
            </a:r>
          </a:p>
        </p:txBody>
      </p:sp>
      <p:sp>
        <p:nvSpPr>
          <p:cNvPr id="5" name="Titel 4">
            <a:extLst>
              <a:ext uri="{FF2B5EF4-FFF2-40B4-BE49-F238E27FC236}">
                <a16:creationId xmlns:a16="http://schemas.microsoft.com/office/drawing/2014/main" id="{D5CA5115-6F61-D2B1-35FF-8C8E16180EA1}"/>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213409001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2515</Words>
  <Application>Microsoft Office PowerPoint</Application>
  <PresentationFormat>Breitbild</PresentationFormat>
  <Paragraphs>167</Paragraphs>
  <Slides>20</Slides>
  <Notes>10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20</vt:i4>
      </vt:variant>
    </vt:vector>
  </HeadingPairs>
  <TitlesOfParts>
    <vt:vector size="25" baseType="lpstr">
      <vt:lpstr>Akzidenz Grotesk</vt:lpstr>
      <vt:lpstr>Arial</vt:lpstr>
      <vt:lpstr>Calibri</vt:lpstr>
      <vt:lpstr>Calibri Light</vt:lpstr>
      <vt:lpstr>Office</vt:lpstr>
      <vt:lpstr>Einführung in die Welt der Blockchains</vt:lpstr>
      <vt:lpstr>Workshopübersicht</vt:lpstr>
      <vt:lpstr>Informationstechnologie Die Welt der Nullen und Einsen</vt:lpstr>
      <vt:lpstr>Informationstechnologie – Historische Übersicht Die Welt der Nullen und Einsen</vt:lpstr>
      <vt:lpstr>Informationstechnologie – Historische Übersicht Die Welt der Nullen und Einsen</vt:lpstr>
      <vt:lpstr>Informationstechnologie – Historische Übersicht Die Welt der Nullen und Einsen</vt:lpstr>
      <vt:lpstr>Informationstechnologie – Bits und Bytes Die Welt der Nullen und Einsen</vt:lpstr>
      <vt:lpstr>Informationstechnologie – Bits und Bytes Die Welt der Nullen und Einsen</vt:lpstr>
      <vt:lpstr>Informationstechnologie – Algorithmen Die Welt der Nullen und Einsen</vt:lpstr>
      <vt:lpstr>Informationstechnologie – Turing Die Welt der Nullen und Einsen</vt:lpstr>
      <vt:lpstr>Informationstechnologie – Turing Die Welt der Nullen und Einsen</vt:lpstr>
      <vt:lpstr>Informationstechnologie – Turing &amp; Code Die Welt der Nullen und Einsen</vt:lpstr>
      <vt:lpstr>Blockchains Die neue Welt der Datenspeicherung</vt:lpstr>
      <vt:lpstr>Blockchains – Wie alles begann Die neue Welt der Datenspeicherung</vt:lpstr>
      <vt:lpstr>Blockchains – Wie alles begann Die neue Welt der Datenspeicherung</vt:lpstr>
      <vt:lpstr>Blockchains – Wie alles begann Die neue Welt der Datenspeicherung</vt:lpstr>
      <vt:lpstr>Blockchains – Wie alles begann Die neue Welt der Datenspeicherung</vt:lpstr>
      <vt:lpstr>Blockchains – Wie alles begann Die neue Welt der Datenspeicherung</vt:lpstr>
      <vt:lpstr>Token Die Welt der Menschen und Computer</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 L</dc:creator>
  <cp:lastModifiedBy>W L</cp:lastModifiedBy>
  <cp:revision>16</cp:revision>
  <dcterms:created xsi:type="dcterms:W3CDTF">2023-04-28T12:44:44Z</dcterms:created>
  <dcterms:modified xsi:type="dcterms:W3CDTF">2023-05-15T15:15:08Z</dcterms:modified>
</cp:coreProperties>
</file>